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Weighted mean DSST</c:v>
          </c:tx>
          <c:spPr>
            <a:solidFill>
              <a:srgbClr val="2D78C8"/>
            </a:solidFill>
          </c:spPr>
          <c:invertIfNegative val="1"/>
          <c:dPt>
            <c:idx val="0"/>
            <c:invertIfNegative val="0"/>
            <c:bubble3D val="0"/>
            <c:spPr>
              <a:solidFill>
                <a:srgbClr val="6DCBF4"/>
              </a:solidFill>
            </c:spPr>
            <c:extLst>
              <c:ext xmlns:c16="http://schemas.microsoft.com/office/drawing/2014/chart" uri="{C3380CC4-5D6E-409C-BE32-E72D297353CC}">
                <c16:uniqueId val="{00000001-ED58-4F6B-AC1A-272BC7149855}"/>
              </c:ext>
            </c:extLst>
          </c:dPt>
          <c:dPt>
            <c:idx val="1"/>
            <c:invertIfNegative val="0"/>
            <c:bubble3D val="0"/>
            <c:extLst>
              <c:ext xmlns:c16="http://schemas.microsoft.com/office/drawing/2014/chart" uri="{C3380CC4-5D6E-409C-BE32-E72D297353CC}">
                <c16:uniqueId val="{00000003-ED58-4F6B-AC1A-272BC7149855}"/>
              </c:ext>
            </c:extLst>
          </c:dPt>
          <c:dPt>
            <c:idx val="2"/>
            <c:invertIfNegative val="0"/>
            <c:bubble3D val="0"/>
            <c:spPr>
              <a:solidFill>
                <a:srgbClr val="24597F"/>
              </a:solidFill>
            </c:spPr>
            <c:extLst>
              <c:ext xmlns:c16="http://schemas.microsoft.com/office/drawing/2014/chart" uri="{C3380CC4-5D6E-409C-BE32-E72D297353CC}">
                <c16:uniqueId val="{00000005-ED58-4F6B-AC1A-272BC7149855}"/>
              </c:ext>
            </c:extLst>
          </c:dPt>
          <c:dLbls>
            <c:spPr>
              <a:noFill/>
              <a:ln>
                <a:noFill/>
              </a:ln>
              <a:effectLst/>
            </c:spPr>
            <c:txPr>
              <a:bodyPr anchorCtr="1"/>
              <a:lstStyle/>
              <a:p>
                <a:pPr>
                  <a:defRPr sz="15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None (0)</c:v>
              </c:pt>
              <c:pt idx="1">
                <c:v>Low-moderate (1–2)</c:v>
              </c:pt>
              <c:pt idx="2">
                <c:v>High (3+)</c:v>
              </c:pt>
            </c:strLit>
          </c:cat>
          <c:val>
            <c:numLit>
              <c:formatCode>General</c:formatCode>
              <c:ptCount val="3"/>
              <c:pt idx="0">
                <c:v>54.4</c:v>
              </c:pt>
              <c:pt idx="1">
                <c:v>48.2</c:v>
              </c:pt>
              <c:pt idx="2">
                <c:v>45.6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ED58-4F6B-AC1A-272BC7149855}"/>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1275">
                <a:solidFill>
                  <a:srgbClr val="111111"/>
                </a:solidFill>
              </a:defRPr>
            </a:pPr>
            <a:endParaRPr lang="en-US"/>
          </a:p>
        </c:txPr>
        <c:crossAx val="48672768"/>
        <c:crosses val="autoZero"/>
        <c:auto val="1"/>
        <c:lblAlgn val="ctr"/>
        <c:lblOffset val="100"/>
        <c:noMultiLvlLbl val="1"/>
      </c:catAx>
      <c:valAx>
        <c:axId val="48672768"/>
        <c:scaling>
          <c:orientation val="minMax"/>
          <c:max val="60"/>
          <c:min val="0"/>
        </c:scaling>
        <c:delete val="0"/>
        <c:axPos val="l"/>
        <c:majorGridlines>
          <c:spPr>
            <a:ln w="9525">
              <a:solidFill>
                <a:srgbClr val="EDEDED"/>
              </a:solidFill>
              <a:prstDash val="solid"/>
            </a:ln>
          </c:spPr>
        </c:majorGridlines>
        <c:title>
          <c:tx>
            <c:rich>
              <a:bodyPr/>
              <a:lstStyle/>
              <a:p>
                <a:r>
                  <a:rPr lang="en-IN" sz="1200" b="1">
                    <a:solidFill>
                      <a:srgbClr val="5D6670"/>
                    </a:solidFill>
                  </a:rPr>
                  <a:t>Weighted mean DSST score</a:t>
                </a:r>
              </a:p>
            </c:rich>
          </c:tx>
          <c:overlay val="0"/>
        </c:title>
        <c:numFmt formatCode="General" sourceLinked="1"/>
        <c:majorTickMark val="none"/>
        <c:minorTickMark val="none"/>
        <c:tickLblPos val="nextTo"/>
        <c:spPr>
          <a:ln w="0">
            <a:solidFill>
              <a:srgbClr val="FFFFFF"/>
            </a:solidFill>
            <a:prstDash val="solid"/>
          </a:ln>
        </c:spPr>
        <c:txPr>
          <a:bodyPr anchorCtr="1"/>
          <a:lstStyle/>
          <a:p>
            <a:pPr>
              <a:defRPr sz="1050">
                <a:solidFill>
                  <a:srgbClr val="5D6670"/>
                </a:solidFill>
              </a:defRPr>
            </a:pPr>
            <a:endParaRPr lang="en-US"/>
          </a:p>
        </c:txPr>
        <c:crossAx val="48650112"/>
        <c:crosses val="autoZero"/>
        <c:crossBetween val="between"/>
        <c:majorUnit val="10"/>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0:00-0:20. Good morning. My dissertation asked a simple but clinically important question: does anticholinergic burden predict cognitive performance beyond what we already learn from counting how many medicines a person takes? I used nationally representative NHANES data from US adults aged sixty and over.</a:t>
            </a:r>
          </a:p>
          <a:p>
            <a:endParaRPr/>
          </a:p>
          <a:p>
            <a:r>
              <a:t>[Sources]</a:t>
            </a:r>
          </a:p>
          <a:p>
            <a:r>
              <a:t>- Siddhapura, Dissertation BIO-7057X draft, title page and abstract.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0:20-1:05. Acetylcholine contributes to attention, processing speed and memory. Many medicines block cholinergic activity as a secondary effect. Older adults may be more vulnerable because they take more medicines, clear them more slowly and already have reduced cholinergic reserve. This makes anticholinergic exposure potentially important, and in principle modifiable. But there is a major interpretive problem: people with a higher anticholinergic burden usually take more medicines overall.</a:t>
            </a:r>
          </a:p>
          <a:p>
            <a:endParaRPr/>
          </a:p>
          <a:p>
            <a:r>
              <a:t>[Sources]</a:t>
            </a:r>
          </a:p>
          <a:p>
            <a:r>
              <a:t>- Siddhapura dissertation, pp. 5-6.</a:t>
            </a:r>
          </a:p>
          <a:p>
            <a:r>
              <a:t>- Boustani et al. (2008).</a:t>
            </a:r>
          </a:p>
          <a:p>
            <a:r>
              <a:t>- American Geriatrics Society Beers Criteria Update Expert Panel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1:05-2:00. Medication count and anticholinergic burden are related but not identical. These two hypothetical participants both take four medicines. The first has no scored anticholinergic exposure. The second accumulates a burden of five because the medicines have different weights. My primary question was therefore whether higher burden remained associated with lower Digit Symbol Substitution Test performance after accounting for the simple medication count. I hypothesised that it would.</a:t>
            </a:r>
          </a:p>
          <a:p>
            <a:endParaRPr/>
          </a:p>
          <a:p>
            <a:r>
              <a:t>[Sources]</a:t>
            </a:r>
          </a:p>
          <a:p>
            <a:r>
              <a:t>- Siddhapura dissertation, pp. 6-10; worked example adapted from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2:00-3:05. I analysed the 2013-14 NHANES cycle. From 10,175 participants, 1,841 were aged sixty or older, 1,785 received the cognitive module and 1,592 had a valid DSST score. Prescription names were scored using the Boustani scale, and the analysis was repeated using IACB. The primary outcome was DSST processing speed, with animal fluency secondary. Survey-weighted linear regression accounted for NHANES sampling and entered burden and medication count together. Because exposure and cognition were measured at the same visit, the results describe association, not causation.</a:t>
            </a:r>
          </a:p>
          <a:p>
            <a:endParaRPr/>
          </a:p>
          <a:p>
            <a:r>
              <a:t>[Sources]</a:t>
            </a:r>
          </a:p>
          <a:p>
            <a:r>
              <a:t>- Siddhapura dissertation, pp. 9-12.</a:t>
            </a:r>
          </a:p>
          <a:p>
            <a:r>
              <a:t>- National Center for Health Statistics (2018), NHANES analytic guidelines.</a:t>
            </a:r>
          </a:p>
          <a:p>
            <a:r>
              <a:t>- Jaeger (2018).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3:05-4:00. Before adjustment, weighted mean DSST fell from 54.4 with no burden, to 48.2 at low-to-moderate burden and 45.6 at high burden. That is an 8.8-point difference. But medication count also rose sharply, from 2.5 to 7.4 medicines. This graph establishes a gradient, but it does not yet show that anticholinergic burden adds information beyond polypharmacy or other health differences.</a:t>
            </a:r>
          </a:p>
          <a:p>
            <a:endParaRPr/>
          </a:p>
          <a:p>
            <a:r>
              <a:t>[Sources]</a:t>
            </a:r>
          </a:p>
          <a:p>
            <a:r>
              <a:t>- Siddhapura dissertation, Table 2 and Figure 2, pp. 13-14.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4:00-5:10. After adjustment for medication count, demographics and socioeconomic factors, each Boustani burden unit was associated with a 1.36-point lower DSST score. High burden, defined as three or more, was associated with a 5.58-point deficit. Adding comorbidities left the burden estimate almost unchanged at minus 1.35, while medication count weakened to non-significance. The estimate also remained similar after inverse-probability weighting and after excluding people with prior stroke. These are modelled associations, not treatment effects.</a:t>
            </a:r>
          </a:p>
          <a:p>
            <a:endParaRPr/>
          </a:p>
          <a:p>
            <a:r>
              <a:t>[Sources]</a:t>
            </a:r>
          </a:p>
          <a:p>
            <a:r>
              <a:t>- Siddhapura dissertation, Table 4 and sections 3.4-3.5, pp. 16-18.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5:10-6:35. The most consequential result appeared when I rescored the same prescriptions using IACB. Both scales associated higher burden with poorer DSST after full adjustment. But they disagreed on the central head-to-head question. Under Boustani, burden remained associated after medication count was entered. Under IACB, the burden coefficient was essentially zero and medication count carried the signal. Because the participants, outcomes and models were unchanged, this difference must come from how the instruments classify and weight medicines.</a:t>
            </a:r>
          </a:p>
          <a:p>
            <a:endParaRPr/>
          </a:p>
          <a:p>
            <a:r>
              <a:t>[Sources]</a:t>
            </a:r>
          </a:p>
          <a:p>
            <a:r>
              <a:t>- Siddhapura dissertation, Figure 3 and Table 6, pp. 20-22.</a:t>
            </a:r>
          </a:p>
          <a:p>
            <a:r>
              <a:t>- Fleetwood et al. (2021), IACB scale, SSRN 3777231.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6:35-7:30. The scales agreed exactly for only 19 of the 87 drugs that both scored. Much of the disagreement involved common cardiovascular medicines. Metoprolol and furosemide score one under Boustani but zero under IACB. Because these drugs are common on long medication lists and can also indicate cardiovascular illness, their classification can materially change the apparent burden signal. Scale disagreement is therefore not simply a measurement detail; it changes the conclusion.</a:t>
            </a:r>
          </a:p>
          <a:p>
            <a:endParaRPr/>
          </a:p>
          <a:p>
            <a:r>
              <a:t>[Sources]</a:t>
            </a:r>
          </a:p>
          <a:p>
            <a:r>
              <a:t>- Siddhapura dissertation, Figure 4 and section 3.7, pp. 19-22.</a:t>
            </a:r>
          </a:p>
          <a:p>
            <a:r>
              <a:t>- Boustani et al. (2008).</a:t>
            </a:r>
          </a:p>
          <a:p>
            <a:r>
              <a:t>- Fleetwood et al. (2021).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7:30-8:25. The study's strengths are correct use of the complex survey design, direct comparison of burden with medication count, and several sensitivity analyses. The limitations are equally important. It is cross-sectional, so temporal order and causation cannot be established. The conditions prompting treatment may still confound the association. Exact name matching may miss combination products, and neither burden scale is a gold standard. Clinically, the result supports cautious medication review, not automatic deprescribing.</a:t>
            </a:r>
          </a:p>
          <a:p>
            <a:endParaRPr/>
          </a:p>
          <a:p>
            <a:r>
              <a:t>[Sources]</a:t>
            </a:r>
          </a:p>
          <a:p>
            <a:r>
              <a:t>- Siddhapura dissertation, sections 4.5-4.7, pp. 26-27.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8:25-9:10. In conclusion, higher anticholinergic burden consistently accompanied poorer processing speed in this population. However, whether burden added information beyond a simple medication count depended on the scoring scale. The defensible interpretation is therefore an instrument-dependent association, not evidence that anticholinergic medicines caused the difference or that treatment should be stopped. Thank you, and I welcome your questions.</a:t>
            </a:r>
          </a:p>
          <a:p>
            <a:endParaRPr/>
          </a:p>
          <a:p>
            <a:r>
              <a:t>[Sources]</a:t>
            </a:r>
          </a:p>
          <a:p>
            <a:r>
              <a:t>- Siddhapura dissertation, conclusion and future directions, pp. 27-28.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Use only if asked about adjustment or sensitivity analyses. The fully adjusted model included age, sex, race and ethnicity, education and income. A further model added stroke, cardiovascular disease, diabetes, depression and self-rated health. Sensitivity analyses addressed informative missingness, prior stroke, burden categorisation, high-potency medicines and the alternative IACB scale.</a:t>
            </a:r>
          </a:p>
          <a:p>
            <a:endParaRPr/>
          </a:p>
          <a:p>
            <a:r>
              <a:t>[Sources]</a:t>
            </a:r>
          </a:p>
          <a:p>
            <a:r>
              <a:t>- Siddhapura dissertation, sections 2.4-2.5 and 3.5-3.7, pp. 11-12 and 18-22.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The later 2011-12 audit used 1,288 people in M4. Burden was concentrated at zero: 59.2 percent under Boustani and 49.8 percent under IACB. The survey design supplied 17 degrees of freedom, so the 95 percent intervals used a t multiplier of 2.11 rather than 1.96. These factors help explain the wider intervals. This is replication context and should not displace the 2013-14 primary analysis in the ten-minute talk.</a:t>
            </a:r>
          </a:p>
          <a:p>
            <a:endParaRPr/>
          </a:p>
          <a:p>
            <a:r>
              <a:t>[Sources]</a:t>
            </a:r>
          </a:p>
          <a:p>
            <a:r>
              <a:t>- User-supplied follow-up email to Dr Saber Sami, 24 August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DA71C6F-4532-48C8-A7F1-263DA95984C3}"/>
              </a:ext>
            </a:extLst>
          </p:cNvPr>
          <p:cNvSpPr>
            <a:spLocks noGrp="1"/>
          </p:cNvSpPr>
          <p:nvPr/>
        </p:nvSpPr>
        <p:spPr>
          <a:xfrm>
            <a:off x="400050" y="400050"/>
            <a:ext cx="5524500" cy="400050"/>
          </a:xfrm>
          <a:prstGeom prst="rect">
            <a:avLst/>
          </a:prstGeom>
          <a:noFill/>
          <a:ln w="0">
            <a:noFill/>
            <a:prstDash val="solid"/>
          </a:ln>
        </p:spPr>
        <p:txBody>
          <a:bodyPr anchor="t"/>
          <a:lstStyle/>
          <a:p>
            <a:pPr algn="l">
              <a:defRPr sz="1500" b="1">
                <a:solidFill>
                  <a:srgbClr val="2D78C8"/>
                </a:solidFill>
                <a:latin typeface="Arial"/>
                <a:ea typeface="Arial"/>
                <a:cs typeface="Arial"/>
              </a:defRPr>
            </a:pPr>
            <a:r>
              <a:rPr sz="1500" b="1">
                <a:solidFill>
                  <a:srgbClr val="2D78C8"/>
                </a:solidFill>
                <a:latin typeface="Arial"/>
                <a:ea typeface="Arial"/>
                <a:cs typeface="Arial"/>
              </a:rPr>
              <a:t>BIO-7057X DISSERTATION PRESENTATION</a:t>
            </a:r>
          </a:p>
        </p:txBody>
      </p:sp>
      <p:sp>
        <p:nvSpPr>
          <p:cNvPr id="2" name="Rectangle 1">
            <a:extLst>
              <a:ext uri="{FF2B5EF4-FFF2-40B4-BE49-F238E27FC236}">
                <a16:creationId xmlns:a16="http://schemas.microsoft.com/office/drawing/2014/main" id="{789C6150-55CC-4DFD-9D84-19765A8EB87F}"/>
              </a:ext>
            </a:extLst>
          </p:cNvPr>
          <p:cNvSpPr>
            <a:spLocks noGrp="1"/>
          </p:cNvSpPr>
          <p:nvPr/>
        </p:nvSpPr>
        <p:spPr>
          <a:xfrm>
            <a:off x="9667875" y="400050"/>
            <a:ext cx="2124075" cy="114300"/>
          </a:xfrm>
          <a:prstGeom prst="rect">
            <a:avLst/>
          </a:prstGeom>
          <a:solidFill>
            <a:srgbClr val="6DCBF4"/>
          </a:solidFill>
          <a:ln w="0">
            <a:noFill/>
            <a:prstDash val="solid"/>
          </a:ln>
        </p:spPr>
      </p:sp>
      <p:sp>
        <p:nvSpPr>
          <p:cNvPr id="3" name="cover-title">
            <a:extLst>
              <a:ext uri="{FF2B5EF4-FFF2-40B4-BE49-F238E27FC236}">
                <a16:creationId xmlns:a16="http://schemas.microsoft.com/office/drawing/2014/main" id="{2E966A70-FDDB-4E27-BF5E-F728052D7956}"/>
              </a:ext>
            </a:extLst>
          </p:cNvPr>
          <p:cNvSpPr>
            <a:spLocks noGrp="1"/>
          </p:cNvSpPr>
          <p:nvPr/>
        </p:nvSpPr>
        <p:spPr>
          <a:xfrm>
            <a:off x="400050" y="1504950"/>
            <a:ext cx="9906000" cy="2781300"/>
          </a:xfrm>
          <a:prstGeom prst="rect">
            <a:avLst/>
          </a:prstGeom>
          <a:noFill/>
          <a:ln w="0">
            <a:noFill/>
            <a:prstDash val="solid"/>
          </a:ln>
        </p:spPr>
        <p:txBody>
          <a:bodyPr anchor="b"/>
          <a:lstStyle/>
          <a:p>
            <a:pPr algn="l">
              <a:defRPr sz="4950" b="1">
                <a:solidFill>
                  <a:srgbClr val="111111"/>
                </a:solidFill>
                <a:latin typeface="Arial"/>
                <a:ea typeface="Arial"/>
                <a:cs typeface="Arial"/>
              </a:defRPr>
            </a:pPr>
            <a:r>
              <a:rPr sz="4950" b="1" dirty="0">
                <a:solidFill>
                  <a:srgbClr val="111111"/>
                </a:solidFill>
                <a:latin typeface="Arial"/>
                <a:ea typeface="Arial"/>
                <a:cs typeface="Arial"/>
              </a:rPr>
              <a:t>Does anticholinergic burden</a:t>
            </a:r>
          </a:p>
          <a:p>
            <a:pPr algn="l">
              <a:defRPr sz="4950" b="1">
                <a:solidFill>
                  <a:srgbClr val="111111"/>
                </a:solidFill>
                <a:latin typeface="Arial"/>
                <a:ea typeface="Arial"/>
                <a:cs typeface="Arial"/>
              </a:defRPr>
            </a:pPr>
            <a:r>
              <a:rPr sz="4950" b="1" dirty="0">
                <a:solidFill>
                  <a:srgbClr val="111111"/>
                </a:solidFill>
                <a:latin typeface="Arial"/>
                <a:ea typeface="Arial"/>
                <a:cs typeface="Arial"/>
              </a:rPr>
              <a:t>predict cognition beyond</a:t>
            </a:r>
          </a:p>
          <a:p>
            <a:pPr algn="l">
              <a:defRPr sz="4950" b="1">
                <a:solidFill>
                  <a:srgbClr val="111111"/>
                </a:solidFill>
                <a:latin typeface="Arial"/>
                <a:ea typeface="Arial"/>
                <a:cs typeface="Arial"/>
              </a:defRPr>
            </a:pPr>
            <a:r>
              <a:rPr sz="4950" b="1" dirty="0">
                <a:solidFill>
                  <a:srgbClr val="111111"/>
                </a:solidFill>
                <a:latin typeface="Arial"/>
                <a:ea typeface="Arial"/>
                <a:cs typeface="Arial"/>
              </a:rPr>
              <a:t>polypharmacy?</a:t>
            </a:r>
          </a:p>
        </p:txBody>
      </p:sp>
      <p:sp>
        <p:nvSpPr>
          <p:cNvPr id="4" name="Straight Connector 3">
            <a:extLst>
              <a:ext uri="{FF2B5EF4-FFF2-40B4-BE49-F238E27FC236}">
                <a16:creationId xmlns:a16="http://schemas.microsoft.com/office/drawing/2014/main" id="{6AD96EFB-8242-4467-AA15-A6D615E7E3D3}"/>
              </a:ext>
            </a:extLst>
          </p:cNvPr>
          <p:cNvSpPr>
            <a:spLocks noGrp="1"/>
          </p:cNvSpPr>
          <p:nvPr/>
        </p:nvSpPr>
        <p:spPr>
          <a:xfrm>
            <a:off x="400050" y="4629150"/>
            <a:ext cx="5048250" cy="0"/>
          </a:xfrm>
          <a:prstGeom prst="line">
            <a:avLst/>
          </a:prstGeom>
          <a:noFill/>
          <a:ln w="19050">
            <a:solidFill>
              <a:srgbClr val="111111"/>
            </a:solidFill>
            <a:prstDash val="solid"/>
          </a:ln>
        </p:spPr>
      </p:sp>
      <p:sp>
        <p:nvSpPr>
          <p:cNvPr id="5" name="cover-subtitle">
            <a:extLst>
              <a:ext uri="{FF2B5EF4-FFF2-40B4-BE49-F238E27FC236}">
                <a16:creationId xmlns:a16="http://schemas.microsoft.com/office/drawing/2014/main" id="{AE2F3BD0-B19E-4F58-8537-5A23B3A804E7}"/>
              </a:ext>
            </a:extLst>
          </p:cNvPr>
          <p:cNvSpPr>
            <a:spLocks noGrp="1"/>
          </p:cNvSpPr>
          <p:nvPr/>
        </p:nvSpPr>
        <p:spPr>
          <a:xfrm>
            <a:off x="400050" y="4857750"/>
            <a:ext cx="6858000" cy="819150"/>
          </a:xfrm>
          <a:prstGeom prst="rect">
            <a:avLst/>
          </a:prstGeom>
          <a:noFill/>
          <a:ln w="0">
            <a:noFill/>
            <a:prstDash val="solid"/>
          </a:ln>
        </p:spPr>
        <p:txBody>
          <a:bodyPr anchor="t"/>
          <a:lstStyle/>
          <a:p>
            <a:pPr algn="l">
              <a:defRPr sz="1800" b="0">
                <a:solidFill>
                  <a:srgbClr val="5D6670"/>
                </a:solidFill>
                <a:latin typeface="Arial"/>
                <a:ea typeface="Arial"/>
                <a:cs typeface="Arial"/>
              </a:defRPr>
            </a:pPr>
            <a:r>
              <a:rPr sz="1800" b="0">
                <a:solidFill>
                  <a:srgbClr val="5D6670"/>
                </a:solidFill>
                <a:latin typeface="Arial"/>
                <a:ea typeface="Arial"/>
                <a:cs typeface="Arial"/>
              </a:rPr>
              <a:t>Jigneshbhai Siddhapura  |  Student 100537203</a:t>
            </a:r>
          </a:p>
          <a:p>
            <a:pPr algn="l">
              <a:defRPr sz="1800" b="0">
                <a:solidFill>
                  <a:srgbClr val="5D6670"/>
                </a:solidFill>
                <a:latin typeface="Arial"/>
                <a:ea typeface="Arial"/>
                <a:cs typeface="Arial"/>
              </a:defRPr>
            </a:pPr>
            <a:r>
              <a:rPr sz="1800" b="0">
                <a:solidFill>
                  <a:srgbClr val="5D6670"/>
                </a:solidFill>
                <a:latin typeface="Arial"/>
                <a:ea typeface="Arial"/>
                <a:cs typeface="Arial"/>
              </a:rPr>
              <a:t>Supervisor: Dr Saber Sami</a:t>
            </a:r>
          </a:p>
        </p:txBody>
      </p:sp>
      <p:sp>
        <p:nvSpPr>
          <p:cNvPr id="6" name="Rectangle 5">
            <a:extLst>
              <a:ext uri="{FF2B5EF4-FFF2-40B4-BE49-F238E27FC236}">
                <a16:creationId xmlns:a16="http://schemas.microsoft.com/office/drawing/2014/main" id="{AB473CF6-69A5-4B1D-8A12-FE64BEF6F824}"/>
              </a:ext>
            </a:extLst>
          </p:cNvPr>
          <p:cNvSpPr>
            <a:spLocks noGrp="1"/>
          </p:cNvSpPr>
          <p:nvPr/>
        </p:nvSpPr>
        <p:spPr>
          <a:xfrm>
            <a:off x="8382000" y="5905500"/>
            <a:ext cx="3409950" cy="285750"/>
          </a:xfrm>
          <a:prstGeom prst="rect">
            <a:avLst/>
          </a:prstGeom>
          <a:noFill/>
          <a:ln w="0">
            <a:noFill/>
            <a:prstDash val="solid"/>
          </a:ln>
        </p:spPr>
        <p:txBody>
          <a:bodyPr anchor="t"/>
          <a:lstStyle/>
          <a:p>
            <a:pPr algn="r">
              <a:defRPr sz="1275" b="1">
                <a:solidFill>
                  <a:srgbClr val="24597F"/>
                </a:solidFill>
                <a:latin typeface="Arial"/>
                <a:ea typeface="Arial"/>
                <a:cs typeface="Arial"/>
              </a:defRPr>
            </a:pPr>
            <a:r>
              <a:rPr sz="1275" b="1">
                <a:solidFill>
                  <a:srgbClr val="24597F"/>
                </a:solidFill>
                <a:latin typeface="Arial"/>
                <a:ea typeface="Arial"/>
                <a:cs typeface="Arial"/>
              </a:rPr>
              <a:t>NHANES 2013-14  •  adults aged 60+</a:t>
            </a:r>
          </a:p>
        </p:txBody>
      </p:sp>
    </p:spTree>
    <p:extLst>
      <p:ext uri="{BB962C8B-B14F-4D97-AF65-F5344CB8AC3E}">
        <p14:creationId xmlns:p14="http://schemas.microsoft.com/office/powerpoint/2010/main" val="131644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2-title">
            <a:extLst>
              <a:ext uri="{FF2B5EF4-FFF2-40B4-BE49-F238E27FC236}">
                <a16:creationId xmlns:a16="http://schemas.microsoft.com/office/drawing/2014/main" id="{F58D23B4-3210-421D-B4C9-D74ECF0AA46A}"/>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Anticholinergic medicines may impair cognition with age</a:t>
            </a:r>
          </a:p>
        </p:txBody>
      </p:sp>
      <p:sp>
        <p:nvSpPr>
          <p:cNvPr id="2" name="slide-2-eyebrow">
            <a:extLst>
              <a:ext uri="{FF2B5EF4-FFF2-40B4-BE49-F238E27FC236}">
                <a16:creationId xmlns:a16="http://schemas.microsoft.com/office/drawing/2014/main" id="{F9685737-2204-498E-89F0-9208340C27F0}"/>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CONTEXT</a:t>
            </a:r>
          </a:p>
        </p:txBody>
      </p:sp>
      <p:sp>
        <p:nvSpPr>
          <p:cNvPr id="3" name="slide-2-number">
            <a:extLst>
              <a:ext uri="{FF2B5EF4-FFF2-40B4-BE49-F238E27FC236}">
                <a16:creationId xmlns:a16="http://schemas.microsoft.com/office/drawing/2014/main" id="{5BEBF417-7E2D-4F68-925E-F8B7F651AFA3}"/>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2</a:t>
            </a:r>
          </a:p>
        </p:txBody>
      </p:sp>
      <p:sp>
        <p:nvSpPr>
          <p:cNvPr id="4" name="Rectangle 3">
            <a:extLst>
              <a:ext uri="{FF2B5EF4-FFF2-40B4-BE49-F238E27FC236}">
                <a16:creationId xmlns:a16="http://schemas.microsoft.com/office/drawing/2014/main" id="{42D8EB04-8BC8-4A4D-AE89-0D8C9AD9BFA5}"/>
              </a:ext>
            </a:extLst>
          </p:cNvPr>
          <p:cNvSpPr>
            <a:spLocks noGrp="1"/>
          </p:cNvSpPr>
          <p:nvPr/>
        </p:nvSpPr>
        <p:spPr>
          <a:xfrm>
            <a:off x="514350" y="1371600"/>
            <a:ext cx="3429000" cy="304800"/>
          </a:xfrm>
          <a:prstGeom prst="rect">
            <a:avLst/>
          </a:prstGeom>
          <a:noFill/>
          <a:ln w="0">
            <a:noFill/>
            <a:prstDash val="solid"/>
          </a:ln>
        </p:spPr>
        <p:txBody>
          <a:bodyPr anchor="t"/>
          <a:lstStyle/>
          <a:p>
            <a:pPr algn="l">
              <a:defRPr sz="1725" b="1">
                <a:solidFill>
                  <a:srgbClr val="5D6670"/>
                </a:solidFill>
                <a:latin typeface="Arial"/>
                <a:ea typeface="Arial"/>
                <a:cs typeface="Arial"/>
              </a:defRPr>
            </a:pPr>
            <a:r>
              <a:rPr sz="1725" b="1">
                <a:solidFill>
                  <a:srgbClr val="5D6670"/>
                </a:solidFill>
                <a:latin typeface="Arial"/>
                <a:ea typeface="Arial"/>
                <a:cs typeface="Arial"/>
              </a:rPr>
              <a:t>Acetylcholine supports</a:t>
            </a:r>
          </a:p>
        </p:txBody>
      </p:sp>
      <p:sp>
        <p:nvSpPr>
          <p:cNvPr id="5" name="Rectangle 4">
            <a:extLst>
              <a:ext uri="{FF2B5EF4-FFF2-40B4-BE49-F238E27FC236}">
                <a16:creationId xmlns:a16="http://schemas.microsoft.com/office/drawing/2014/main" id="{D1B4E2F2-FFC9-4DAA-B95A-C7C1B8A2ABFD}"/>
              </a:ext>
            </a:extLst>
          </p:cNvPr>
          <p:cNvSpPr>
            <a:spLocks noGrp="1"/>
          </p:cNvSpPr>
          <p:nvPr/>
        </p:nvSpPr>
        <p:spPr>
          <a:xfrm>
            <a:off x="514350" y="1790700"/>
            <a:ext cx="3429000" cy="609600"/>
          </a:xfrm>
          <a:prstGeom prst="rect">
            <a:avLst/>
          </a:prstGeom>
          <a:noFill/>
          <a:ln w="0">
            <a:noFill/>
            <a:prstDash val="solid"/>
          </a:ln>
        </p:spPr>
        <p:txBody>
          <a:bodyPr anchor="t"/>
          <a:lstStyle/>
          <a:p>
            <a:pPr algn="l">
              <a:defRPr sz="3450" b="1">
                <a:solidFill>
                  <a:srgbClr val="24597F"/>
                </a:solidFill>
                <a:latin typeface="Arial"/>
                <a:ea typeface="Arial"/>
                <a:cs typeface="Arial"/>
              </a:defRPr>
            </a:pPr>
            <a:r>
              <a:rPr sz="3450" b="1">
                <a:solidFill>
                  <a:srgbClr val="24597F"/>
                </a:solidFill>
                <a:latin typeface="Arial"/>
                <a:ea typeface="Arial"/>
                <a:cs typeface="Arial"/>
              </a:rPr>
              <a:t>attention</a:t>
            </a:r>
          </a:p>
        </p:txBody>
      </p:sp>
      <p:sp>
        <p:nvSpPr>
          <p:cNvPr id="6" name="Rectangle 5">
            <a:extLst>
              <a:ext uri="{FF2B5EF4-FFF2-40B4-BE49-F238E27FC236}">
                <a16:creationId xmlns:a16="http://schemas.microsoft.com/office/drawing/2014/main" id="{44B3ADCF-D0EF-4289-8D43-665DEDC8D07B}"/>
              </a:ext>
            </a:extLst>
          </p:cNvPr>
          <p:cNvSpPr>
            <a:spLocks noGrp="1"/>
          </p:cNvSpPr>
          <p:nvPr/>
        </p:nvSpPr>
        <p:spPr>
          <a:xfrm>
            <a:off x="514350" y="2457450"/>
            <a:ext cx="4000500" cy="609600"/>
          </a:xfrm>
          <a:prstGeom prst="rect">
            <a:avLst/>
          </a:prstGeom>
          <a:noFill/>
          <a:ln w="0">
            <a:noFill/>
            <a:prstDash val="solid"/>
          </a:ln>
        </p:spPr>
        <p:txBody>
          <a:bodyPr anchor="t"/>
          <a:lstStyle/>
          <a:p>
            <a:pPr algn="l">
              <a:defRPr sz="3450" b="1">
                <a:solidFill>
                  <a:srgbClr val="24597F"/>
                </a:solidFill>
                <a:latin typeface="Arial"/>
                <a:ea typeface="Arial"/>
                <a:cs typeface="Arial"/>
              </a:defRPr>
            </a:pPr>
            <a:r>
              <a:rPr sz="3450" b="1">
                <a:solidFill>
                  <a:srgbClr val="24597F"/>
                </a:solidFill>
                <a:latin typeface="Arial"/>
                <a:ea typeface="Arial"/>
                <a:cs typeface="Arial"/>
              </a:rPr>
              <a:t>processing speed</a:t>
            </a:r>
          </a:p>
        </p:txBody>
      </p:sp>
      <p:sp>
        <p:nvSpPr>
          <p:cNvPr id="7" name="Rectangle 6">
            <a:extLst>
              <a:ext uri="{FF2B5EF4-FFF2-40B4-BE49-F238E27FC236}">
                <a16:creationId xmlns:a16="http://schemas.microsoft.com/office/drawing/2014/main" id="{ED6ACE23-4C79-460F-8EB0-4150E83264CA}"/>
              </a:ext>
            </a:extLst>
          </p:cNvPr>
          <p:cNvSpPr>
            <a:spLocks noGrp="1"/>
          </p:cNvSpPr>
          <p:nvPr/>
        </p:nvSpPr>
        <p:spPr>
          <a:xfrm>
            <a:off x="514350" y="3124200"/>
            <a:ext cx="3429000" cy="609600"/>
          </a:xfrm>
          <a:prstGeom prst="rect">
            <a:avLst/>
          </a:prstGeom>
          <a:noFill/>
          <a:ln w="0">
            <a:noFill/>
            <a:prstDash val="solid"/>
          </a:ln>
        </p:spPr>
        <p:txBody>
          <a:bodyPr anchor="t"/>
          <a:lstStyle/>
          <a:p>
            <a:pPr algn="l">
              <a:defRPr sz="3450" b="1">
                <a:solidFill>
                  <a:srgbClr val="24597F"/>
                </a:solidFill>
                <a:latin typeface="Arial"/>
                <a:ea typeface="Arial"/>
                <a:cs typeface="Arial"/>
              </a:defRPr>
            </a:pPr>
            <a:r>
              <a:rPr sz="3450" b="1">
                <a:solidFill>
                  <a:srgbClr val="24597F"/>
                </a:solidFill>
                <a:latin typeface="Arial"/>
                <a:ea typeface="Arial"/>
                <a:cs typeface="Arial"/>
              </a:rPr>
              <a:t>memory</a:t>
            </a:r>
          </a:p>
        </p:txBody>
      </p:sp>
      <p:sp>
        <p:nvSpPr>
          <p:cNvPr id="8" name="Rectangle 7">
            <a:extLst>
              <a:ext uri="{FF2B5EF4-FFF2-40B4-BE49-F238E27FC236}">
                <a16:creationId xmlns:a16="http://schemas.microsoft.com/office/drawing/2014/main" id="{611227F9-F17E-4D47-B6F0-E0E9B4559702}"/>
              </a:ext>
            </a:extLst>
          </p:cNvPr>
          <p:cNvSpPr>
            <a:spLocks noGrp="1"/>
          </p:cNvSpPr>
          <p:nvPr/>
        </p:nvSpPr>
        <p:spPr>
          <a:xfrm>
            <a:off x="4857750" y="1295400"/>
            <a:ext cx="6572250" cy="3886200"/>
          </a:xfrm>
          <a:prstGeom prst="rect">
            <a:avLst/>
          </a:prstGeom>
          <a:solidFill>
            <a:srgbClr val="F6F7F8"/>
          </a:solidFill>
          <a:ln w="0">
            <a:noFill/>
            <a:prstDash val="solid"/>
          </a:ln>
        </p:spPr>
      </p:sp>
      <p:sp>
        <p:nvSpPr>
          <p:cNvPr id="9" name="Rectangle 8">
            <a:extLst>
              <a:ext uri="{FF2B5EF4-FFF2-40B4-BE49-F238E27FC236}">
                <a16:creationId xmlns:a16="http://schemas.microsoft.com/office/drawing/2014/main" id="{15C0EDA9-6D6A-44D7-8719-68318A9DD274}"/>
              </a:ext>
            </a:extLst>
          </p:cNvPr>
          <p:cNvSpPr>
            <a:spLocks noGrp="1"/>
          </p:cNvSpPr>
          <p:nvPr/>
        </p:nvSpPr>
        <p:spPr>
          <a:xfrm>
            <a:off x="5219700" y="1619250"/>
            <a:ext cx="5810250" cy="381000"/>
          </a:xfrm>
          <a:prstGeom prst="rect">
            <a:avLst/>
          </a:prstGeom>
          <a:noFill/>
          <a:ln w="0">
            <a:noFill/>
            <a:prstDash val="solid"/>
          </a:ln>
        </p:spPr>
        <p:txBody>
          <a:bodyPr anchor="t"/>
          <a:lstStyle/>
          <a:p>
            <a:pPr algn="l">
              <a:defRPr sz="2100" b="1">
                <a:solidFill>
                  <a:srgbClr val="111111"/>
                </a:solidFill>
                <a:latin typeface="Arial"/>
                <a:ea typeface="Arial"/>
                <a:cs typeface="Arial"/>
              </a:defRPr>
            </a:pPr>
            <a:r>
              <a:rPr sz="2100" b="1">
                <a:solidFill>
                  <a:srgbClr val="111111"/>
                </a:solidFill>
                <a:latin typeface="Arial"/>
                <a:ea typeface="Arial"/>
                <a:cs typeface="Arial"/>
              </a:rPr>
              <a:t>Why older adults may be more vulnerable</a:t>
            </a:r>
          </a:p>
        </p:txBody>
      </p:sp>
      <p:sp>
        <p:nvSpPr>
          <p:cNvPr id="10" name="Oval 9">
            <a:extLst>
              <a:ext uri="{FF2B5EF4-FFF2-40B4-BE49-F238E27FC236}">
                <a16:creationId xmlns:a16="http://schemas.microsoft.com/office/drawing/2014/main" id="{F5B9F9E2-514E-4626-AE17-7D61272F2D77}"/>
              </a:ext>
            </a:extLst>
          </p:cNvPr>
          <p:cNvSpPr>
            <a:spLocks noGrp="1"/>
          </p:cNvSpPr>
          <p:nvPr/>
        </p:nvSpPr>
        <p:spPr>
          <a:xfrm>
            <a:off x="5219700" y="2314575"/>
            <a:ext cx="133350" cy="133350"/>
          </a:xfrm>
          <a:prstGeom prst="ellipse">
            <a:avLst/>
          </a:prstGeom>
          <a:solidFill>
            <a:srgbClr val="2D78C8"/>
          </a:solidFill>
          <a:ln w="0">
            <a:noFill/>
            <a:prstDash val="solid"/>
          </a:ln>
        </p:spPr>
      </p:sp>
      <p:sp>
        <p:nvSpPr>
          <p:cNvPr id="11" name="Rectangle 10">
            <a:extLst>
              <a:ext uri="{FF2B5EF4-FFF2-40B4-BE49-F238E27FC236}">
                <a16:creationId xmlns:a16="http://schemas.microsoft.com/office/drawing/2014/main" id="{A4B0856F-F9C3-45D6-A713-B07F5FEF2AB2}"/>
              </a:ext>
            </a:extLst>
          </p:cNvPr>
          <p:cNvSpPr>
            <a:spLocks noGrp="1"/>
          </p:cNvSpPr>
          <p:nvPr/>
        </p:nvSpPr>
        <p:spPr>
          <a:xfrm>
            <a:off x="5524500" y="2266950"/>
            <a:ext cx="2047875" cy="266700"/>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75" b="1">
                <a:solidFill>
                  <a:srgbClr val="111111"/>
                </a:solidFill>
                <a:latin typeface="Arial"/>
                <a:ea typeface="Arial"/>
                <a:cs typeface="Arial"/>
              </a:rPr>
              <a:t>More exposure</a:t>
            </a:r>
          </a:p>
        </p:txBody>
      </p:sp>
      <p:sp>
        <p:nvSpPr>
          <p:cNvPr id="12" name="Rectangle 11">
            <a:extLst>
              <a:ext uri="{FF2B5EF4-FFF2-40B4-BE49-F238E27FC236}">
                <a16:creationId xmlns:a16="http://schemas.microsoft.com/office/drawing/2014/main" id="{13CA698D-21BA-45AD-BD1D-3F0ABB34B21F}"/>
              </a:ext>
            </a:extLst>
          </p:cNvPr>
          <p:cNvSpPr>
            <a:spLocks noGrp="1"/>
          </p:cNvSpPr>
          <p:nvPr/>
        </p:nvSpPr>
        <p:spPr>
          <a:xfrm>
            <a:off x="7581900" y="2266950"/>
            <a:ext cx="3286125" cy="55245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More medicines and more opportunities for anticholinergic activity</a:t>
            </a:r>
          </a:p>
        </p:txBody>
      </p:sp>
      <p:sp>
        <p:nvSpPr>
          <p:cNvPr id="13" name="Oval 12">
            <a:extLst>
              <a:ext uri="{FF2B5EF4-FFF2-40B4-BE49-F238E27FC236}">
                <a16:creationId xmlns:a16="http://schemas.microsoft.com/office/drawing/2014/main" id="{F731B52B-6BE7-4066-B452-CC2E32D68C2C}"/>
              </a:ext>
            </a:extLst>
          </p:cNvPr>
          <p:cNvSpPr>
            <a:spLocks noGrp="1"/>
          </p:cNvSpPr>
          <p:nvPr/>
        </p:nvSpPr>
        <p:spPr>
          <a:xfrm>
            <a:off x="5219700" y="3190875"/>
            <a:ext cx="133350" cy="133350"/>
          </a:xfrm>
          <a:prstGeom prst="ellipse">
            <a:avLst/>
          </a:prstGeom>
          <a:solidFill>
            <a:srgbClr val="2D78C8"/>
          </a:solidFill>
          <a:ln w="0">
            <a:noFill/>
            <a:prstDash val="solid"/>
          </a:ln>
        </p:spPr>
      </p:sp>
      <p:sp>
        <p:nvSpPr>
          <p:cNvPr id="14" name="Rectangle 13">
            <a:extLst>
              <a:ext uri="{FF2B5EF4-FFF2-40B4-BE49-F238E27FC236}">
                <a16:creationId xmlns:a16="http://schemas.microsoft.com/office/drawing/2014/main" id="{620BD0A5-5713-4B25-858D-7B16D59B643C}"/>
              </a:ext>
            </a:extLst>
          </p:cNvPr>
          <p:cNvSpPr>
            <a:spLocks noGrp="1"/>
          </p:cNvSpPr>
          <p:nvPr/>
        </p:nvSpPr>
        <p:spPr>
          <a:xfrm>
            <a:off x="5524500" y="3143250"/>
            <a:ext cx="2047875" cy="266700"/>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75" b="1">
                <a:solidFill>
                  <a:srgbClr val="111111"/>
                </a:solidFill>
                <a:latin typeface="Arial"/>
                <a:ea typeface="Arial"/>
                <a:cs typeface="Arial"/>
              </a:rPr>
              <a:t>Reduced reserve</a:t>
            </a:r>
          </a:p>
        </p:txBody>
      </p:sp>
      <p:sp>
        <p:nvSpPr>
          <p:cNvPr id="15" name="Rectangle 14">
            <a:extLst>
              <a:ext uri="{FF2B5EF4-FFF2-40B4-BE49-F238E27FC236}">
                <a16:creationId xmlns:a16="http://schemas.microsoft.com/office/drawing/2014/main" id="{4FBA5749-0F90-45C7-80B1-2D0E47573AA4}"/>
              </a:ext>
            </a:extLst>
          </p:cNvPr>
          <p:cNvSpPr>
            <a:spLocks noGrp="1"/>
          </p:cNvSpPr>
          <p:nvPr/>
        </p:nvSpPr>
        <p:spPr>
          <a:xfrm>
            <a:off x="7581900" y="3143250"/>
            <a:ext cx="3286125" cy="55245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Age-related changes in clearance, blood-brain barrier and cholinergic function</a:t>
            </a:r>
          </a:p>
        </p:txBody>
      </p:sp>
      <p:sp>
        <p:nvSpPr>
          <p:cNvPr id="16" name="Oval 15">
            <a:extLst>
              <a:ext uri="{FF2B5EF4-FFF2-40B4-BE49-F238E27FC236}">
                <a16:creationId xmlns:a16="http://schemas.microsoft.com/office/drawing/2014/main" id="{10BCD607-C369-4B1B-A4AA-7CEE70C296BF}"/>
              </a:ext>
            </a:extLst>
          </p:cNvPr>
          <p:cNvSpPr>
            <a:spLocks noGrp="1"/>
          </p:cNvSpPr>
          <p:nvPr/>
        </p:nvSpPr>
        <p:spPr>
          <a:xfrm>
            <a:off x="5219700" y="4067175"/>
            <a:ext cx="133350" cy="133350"/>
          </a:xfrm>
          <a:prstGeom prst="ellipse">
            <a:avLst/>
          </a:prstGeom>
          <a:solidFill>
            <a:srgbClr val="C84630"/>
          </a:solidFill>
          <a:ln w="0">
            <a:noFill/>
            <a:prstDash val="solid"/>
          </a:ln>
        </p:spPr>
      </p:sp>
      <p:sp>
        <p:nvSpPr>
          <p:cNvPr id="17" name="Rectangle 16">
            <a:extLst>
              <a:ext uri="{FF2B5EF4-FFF2-40B4-BE49-F238E27FC236}">
                <a16:creationId xmlns:a16="http://schemas.microsoft.com/office/drawing/2014/main" id="{DAD27E4E-C8F2-4491-9A7C-752174E36CBF}"/>
              </a:ext>
            </a:extLst>
          </p:cNvPr>
          <p:cNvSpPr>
            <a:spLocks noGrp="1"/>
          </p:cNvSpPr>
          <p:nvPr/>
        </p:nvSpPr>
        <p:spPr>
          <a:xfrm>
            <a:off x="5524500" y="4019550"/>
            <a:ext cx="2047875" cy="266700"/>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75" b="1">
                <a:solidFill>
                  <a:srgbClr val="111111"/>
                </a:solidFill>
                <a:latin typeface="Arial"/>
                <a:ea typeface="Arial"/>
                <a:cs typeface="Arial"/>
              </a:rPr>
              <a:t>Potentially modifiable</a:t>
            </a:r>
          </a:p>
        </p:txBody>
      </p:sp>
      <p:sp>
        <p:nvSpPr>
          <p:cNvPr id="18" name="Rectangle 17">
            <a:extLst>
              <a:ext uri="{FF2B5EF4-FFF2-40B4-BE49-F238E27FC236}">
                <a16:creationId xmlns:a16="http://schemas.microsoft.com/office/drawing/2014/main" id="{31775366-ACFB-47B2-9FC8-33C11E5EC52F}"/>
              </a:ext>
            </a:extLst>
          </p:cNvPr>
          <p:cNvSpPr>
            <a:spLocks noGrp="1"/>
          </p:cNvSpPr>
          <p:nvPr/>
        </p:nvSpPr>
        <p:spPr>
          <a:xfrm>
            <a:off x="7581900" y="4019550"/>
            <a:ext cx="3286125" cy="55245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Medication exposure can be reviewed, unlike age or genotype</a:t>
            </a:r>
          </a:p>
        </p:txBody>
      </p:sp>
      <p:sp>
        <p:nvSpPr>
          <p:cNvPr id="19" name="Rectangle 18">
            <a:extLst>
              <a:ext uri="{FF2B5EF4-FFF2-40B4-BE49-F238E27FC236}">
                <a16:creationId xmlns:a16="http://schemas.microsoft.com/office/drawing/2014/main" id="{A398447E-02BE-4477-A7AB-F35828100759}"/>
              </a:ext>
            </a:extLst>
          </p:cNvPr>
          <p:cNvSpPr>
            <a:spLocks noGrp="1"/>
          </p:cNvSpPr>
          <p:nvPr/>
        </p:nvSpPr>
        <p:spPr>
          <a:xfrm>
            <a:off x="514350" y="5581650"/>
            <a:ext cx="10572750" cy="457200"/>
          </a:xfrm>
          <a:prstGeom prst="rect">
            <a:avLst/>
          </a:prstGeom>
          <a:noFill/>
          <a:ln w="0">
            <a:noFill/>
            <a:prstDash val="solid"/>
          </a:ln>
        </p:spPr>
        <p:txBody>
          <a:bodyPr anchor="t"/>
          <a:lstStyle/>
          <a:p>
            <a:pPr algn="l">
              <a:defRPr sz="1875" b="1">
                <a:solidFill>
                  <a:srgbClr val="C84630"/>
                </a:solidFill>
                <a:latin typeface="Arial"/>
                <a:ea typeface="Arial"/>
                <a:cs typeface="Arial"/>
              </a:defRPr>
            </a:pPr>
            <a:r>
              <a:rPr sz="1875" b="1">
                <a:solidFill>
                  <a:srgbClr val="C84630"/>
                </a:solidFill>
                <a:latin typeface="Arial"/>
                <a:ea typeface="Arial"/>
                <a:cs typeface="Arial"/>
              </a:rPr>
              <a:t>The key problem: people with greater burden also tend to take more medicines overall.</a:t>
            </a:r>
          </a:p>
        </p:txBody>
      </p:sp>
    </p:spTree>
    <p:extLst>
      <p:ext uri="{BB962C8B-B14F-4D97-AF65-F5344CB8AC3E}">
        <p14:creationId xmlns:p14="http://schemas.microsoft.com/office/powerpoint/2010/main" val="147421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3-title">
            <a:extLst>
              <a:ext uri="{FF2B5EF4-FFF2-40B4-BE49-F238E27FC236}">
                <a16:creationId xmlns:a16="http://schemas.microsoft.com/office/drawing/2014/main" id="{7D009878-3B72-4B99-8385-53CEE9D76FE4}"/>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Medication count cannot describe pharmacological burden</a:t>
            </a:r>
          </a:p>
        </p:txBody>
      </p:sp>
      <p:sp>
        <p:nvSpPr>
          <p:cNvPr id="2" name="slide-3-eyebrow">
            <a:extLst>
              <a:ext uri="{FF2B5EF4-FFF2-40B4-BE49-F238E27FC236}">
                <a16:creationId xmlns:a16="http://schemas.microsoft.com/office/drawing/2014/main" id="{220AEA02-5667-4469-9A39-40B4A5BA8BC9}"/>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QUESTION AND HYPOTHESIS</a:t>
            </a:r>
          </a:p>
        </p:txBody>
      </p:sp>
      <p:sp>
        <p:nvSpPr>
          <p:cNvPr id="3" name="slide-3-number">
            <a:extLst>
              <a:ext uri="{FF2B5EF4-FFF2-40B4-BE49-F238E27FC236}">
                <a16:creationId xmlns:a16="http://schemas.microsoft.com/office/drawing/2014/main" id="{FD4B2C2D-98D0-46B9-AEC8-F2E92EE2050D}"/>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3</a:t>
            </a:r>
          </a:p>
        </p:txBody>
      </p:sp>
      <p:sp>
        <p:nvSpPr>
          <p:cNvPr id="4" name="Rectangle 3">
            <a:extLst>
              <a:ext uri="{FF2B5EF4-FFF2-40B4-BE49-F238E27FC236}">
                <a16:creationId xmlns:a16="http://schemas.microsoft.com/office/drawing/2014/main" id="{EE44F76C-A7B8-48C9-94E7-4FF6AEEF2437}"/>
              </a:ext>
            </a:extLst>
          </p:cNvPr>
          <p:cNvSpPr>
            <a:spLocks noGrp="1"/>
          </p:cNvSpPr>
          <p:nvPr/>
        </p:nvSpPr>
        <p:spPr>
          <a:xfrm>
            <a:off x="400050" y="1104900"/>
            <a:ext cx="11391900" cy="438150"/>
          </a:xfrm>
          <a:prstGeom prst="rect">
            <a:avLst/>
          </a:prstGeom>
          <a:noFill/>
          <a:ln w="0">
            <a:noFill/>
            <a:prstDash val="solid"/>
          </a:ln>
        </p:spPr>
        <p:txBody>
          <a:bodyPr anchor="t"/>
          <a:lstStyle/>
          <a:p>
            <a:pPr algn="ctr">
              <a:defRPr sz="2025" b="1">
                <a:solidFill>
                  <a:srgbClr val="5D6670"/>
                </a:solidFill>
                <a:latin typeface="Arial"/>
                <a:ea typeface="Arial"/>
                <a:cs typeface="Arial"/>
              </a:defRPr>
            </a:pPr>
            <a:r>
              <a:rPr sz="2025" b="1">
                <a:solidFill>
                  <a:srgbClr val="5D6670"/>
                </a:solidFill>
                <a:latin typeface="Arial"/>
                <a:ea typeface="Arial"/>
                <a:cs typeface="Arial"/>
              </a:rPr>
              <a:t>Same medication count: 4</a:t>
            </a:r>
          </a:p>
        </p:txBody>
      </p:sp>
      <p:sp>
        <p:nvSpPr>
          <p:cNvPr id="5" name="Rectangle 4">
            <a:extLst>
              <a:ext uri="{FF2B5EF4-FFF2-40B4-BE49-F238E27FC236}">
                <a16:creationId xmlns:a16="http://schemas.microsoft.com/office/drawing/2014/main" id="{697AC402-85FE-4F14-B132-0B43F6B0BA7A}"/>
              </a:ext>
            </a:extLst>
          </p:cNvPr>
          <p:cNvSpPr>
            <a:spLocks noGrp="1"/>
          </p:cNvSpPr>
          <p:nvPr/>
        </p:nvSpPr>
        <p:spPr>
          <a:xfrm>
            <a:off x="400050" y="1752600"/>
            <a:ext cx="5476875" cy="2514600"/>
          </a:xfrm>
          <a:prstGeom prst="rect">
            <a:avLst/>
          </a:prstGeom>
          <a:solidFill>
            <a:srgbClr val="F6F7F8"/>
          </a:solidFill>
          <a:ln w="0">
            <a:noFill/>
            <a:prstDash val="solid"/>
          </a:ln>
        </p:spPr>
      </p:sp>
      <p:sp>
        <p:nvSpPr>
          <p:cNvPr id="6" name="Rectangle 5">
            <a:extLst>
              <a:ext uri="{FF2B5EF4-FFF2-40B4-BE49-F238E27FC236}">
                <a16:creationId xmlns:a16="http://schemas.microsoft.com/office/drawing/2014/main" id="{FB747DA2-51C7-48D2-960C-AA8A2984820A}"/>
              </a:ext>
            </a:extLst>
          </p:cNvPr>
          <p:cNvSpPr>
            <a:spLocks noGrp="1"/>
          </p:cNvSpPr>
          <p:nvPr/>
        </p:nvSpPr>
        <p:spPr>
          <a:xfrm>
            <a:off x="6315075" y="1752600"/>
            <a:ext cx="5476875" cy="2514600"/>
          </a:xfrm>
          <a:prstGeom prst="rect">
            <a:avLst/>
          </a:prstGeom>
          <a:solidFill>
            <a:srgbClr val="EAF5FB"/>
          </a:solidFill>
          <a:ln w="0">
            <a:noFill/>
            <a:prstDash val="solid"/>
          </a:ln>
        </p:spPr>
      </p:sp>
      <p:sp>
        <p:nvSpPr>
          <p:cNvPr id="7" name="Rectangle 6">
            <a:extLst>
              <a:ext uri="{FF2B5EF4-FFF2-40B4-BE49-F238E27FC236}">
                <a16:creationId xmlns:a16="http://schemas.microsoft.com/office/drawing/2014/main" id="{852EDC87-DA20-4666-91CF-BBD58F3FAF0C}"/>
              </a:ext>
            </a:extLst>
          </p:cNvPr>
          <p:cNvSpPr>
            <a:spLocks noGrp="1"/>
          </p:cNvSpPr>
          <p:nvPr/>
        </p:nvSpPr>
        <p:spPr>
          <a:xfrm>
            <a:off x="723900" y="2038350"/>
            <a:ext cx="2381250" cy="3238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Participant A</a:t>
            </a:r>
          </a:p>
        </p:txBody>
      </p:sp>
      <p:sp>
        <p:nvSpPr>
          <p:cNvPr id="8" name="Rectangle 7">
            <a:extLst>
              <a:ext uri="{FF2B5EF4-FFF2-40B4-BE49-F238E27FC236}">
                <a16:creationId xmlns:a16="http://schemas.microsoft.com/office/drawing/2014/main" id="{DCEE0F19-7EAF-4E97-9219-E93F243FD9EC}"/>
              </a:ext>
            </a:extLst>
          </p:cNvPr>
          <p:cNvSpPr>
            <a:spLocks noGrp="1"/>
          </p:cNvSpPr>
          <p:nvPr/>
        </p:nvSpPr>
        <p:spPr>
          <a:xfrm>
            <a:off x="723900" y="2514600"/>
            <a:ext cx="2476500" cy="140970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lisinopril</a:t>
            </a:r>
          </a:p>
          <a:p>
            <a:pPr algn="l">
              <a:defRPr sz="1575" b="0">
                <a:solidFill>
                  <a:srgbClr val="5D6670"/>
                </a:solidFill>
                <a:latin typeface="Arial"/>
                <a:ea typeface="Arial"/>
                <a:cs typeface="Arial"/>
              </a:defRPr>
            </a:pPr>
            <a:r>
              <a:rPr sz="1575" b="0">
                <a:solidFill>
                  <a:srgbClr val="5D6670"/>
                </a:solidFill>
                <a:latin typeface="Arial"/>
                <a:ea typeface="Arial"/>
                <a:cs typeface="Arial"/>
              </a:rPr>
              <a:t>simvastatin</a:t>
            </a:r>
          </a:p>
          <a:p>
            <a:pPr algn="l">
              <a:defRPr sz="1575" b="0">
                <a:solidFill>
                  <a:srgbClr val="5D6670"/>
                </a:solidFill>
                <a:latin typeface="Arial"/>
                <a:ea typeface="Arial"/>
                <a:cs typeface="Arial"/>
              </a:defRPr>
            </a:pPr>
            <a:r>
              <a:rPr sz="1575" b="0">
                <a:solidFill>
                  <a:srgbClr val="5D6670"/>
                </a:solidFill>
                <a:latin typeface="Arial"/>
                <a:ea typeface="Arial"/>
                <a:cs typeface="Arial"/>
              </a:rPr>
              <a:t>levothyroxine</a:t>
            </a:r>
          </a:p>
          <a:p>
            <a:pPr algn="l">
              <a:defRPr sz="1575" b="0">
                <a:solidFill>
                  <a:srgbClr val="5D6670"/>
                </a:solidFill>
                <a:latin typeface="Arial"/>
                <a:ea typeface="Arial"/>
                <a:cs typeface="Arial"/>
              </a:defRPr>
            </a:pPr>
            <a:r>
              <a:rPr sz="1575" b="0">
                <a:solidFill>
                  <a:srgbClr val="5D6670"/>
                </a:solidFill>
                <a:latin typeface="Arial"/>
                <a:ea typeface="Arial"/>
                <a:cs typeface="Arial"/>
              </a:rPr>
              <a:t>omeprazole</a:t>
            </a:r>
          </a:p>
        </p:txBody>
      </p:sp>
      <p:sp>
        <p:nvSpPr>
          <p:cNvPr id="9" name="Rectangle 8">
            <a:extLst>
              <a:ext uri="{FF2B5EF4-FFF2-40B4-BE49-F238E27FC236}">
                <a16:creationId xmlns:a16="http://schemas.microsoft.com/office/drawing/2014/main" id="{7AC4E14D-D4C0-4FDA-A0DA-B49A6976CC5C}"/>
              </a:ext>
            </a:extLst>
          </p:cNvPr>
          <p:cNvSpPr>
            <a:spLocks noGrp="1"/>
          </p:cNvSpPr>
          <p:nvPr/>
        </p:nvSpPr>
        <p:spPr>
          <a:xfrm>
            <a:off x="3714750" y="2705100"/>
            <a:ext cx="1714500" cy="666750"/>
          </a:xfrm>
          <a:prstGeom prst="rect">
            <a:avLst/>
          </a:prstGeom>
          <a:noFill/>
          <a:ln w="0">
            <a:noFill/>
            <a:prstDash val="solid"/>
          </a:ln>
        </p:spPr>
        <p:txBody>
          <a:bodyPr anchor="t"/>
          <a:lstStyle/>
          <a:p>
            <a:pPr algn="ctr">
              <a:defRPr sz="3600" b="1">
                <a:solidFill>
                  <a:srgbClr val="277A64"/>
                </a:solidFill>
                <a:latin typeface="Arial"/>
                <a:ea typeface="Arial"/>
                <a:cs typeface="Arial"/>
              </a:defRPr>
            </a:pPr>
            <a:r>
              <a:rPr sz="3600" b="1">
                <a:solidFill>
                  <a:srgbClr val="277A64"/>
                </a:solidFill>
                <a:latin typeface="Arial"/>
                <a:ea typeface="Arial"/>
                <a:cs typeface="Arial"/>
              </a:rPr>
              <a:t>ACB 0</a:t>
            </a:r>
          </a:p>
        </p:txBody>
      </p:sp>
      <p:sp>
        <p:nvSpPr>
          <p:cNvPr id="10" name="Rectangle 9">
            <a:extLst>
              <a:ext uri="{FF2B5EF4-FFF2-40B4-BE49-F238E27FC236}">
                <a16:creationId xmlns:a16="http://schemas.microsoft.com/office/drawing/2014/main" id="{5D496B2E-BFCE-4080-9255-1E1F01791BAB}"/>
              </a:ext>
            </a:extLst>
          </p:cNvPr>
          <p:cNvSpPr>
            <a:spLocks noGrp="1"/>
          </p:cNvSpPr>
          <p:nvPr/>
        </p:nvSpPr>
        <p:spPr>
          <a:xfrm>
            <a:off x="6638925" y="2038350"/>
            <a:ext cx="2381250" cy="3238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Participant B</a:t>
            </a:r>
          </a:p>
        </p:txBody>
      </p:sp>
      <p:sp>
        <p:nvSpPr>
          <p:cNvPr id="11" name="Rectangle 10">
            <a:extLst>
              <a:ext uri="{FF2B5EF4-FFF2-40B4-BE49-F238E27FC236}">
                <a16:creationId xmlns:a16="http://schemas.microsoft.com/office/drawing/2014/main" id="{A959952B-BCA8-4AAE-84C9-334AE1074ECB}"/>
              </a:ext>
            </a:extLst>
          </p:cNvPr>
          <p:cNvSpPr>
            <a:spLocks noGrp="1"/>
          </p:cNvSpPr>
          <p:nvPr/>
        </p:nvSpPr>
        <p:spPr>
          <a:xfrm>
            <a:off x="6638925" y="2514600"/>
            <a:ext cx="2476500" cy="140970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lisinopril</a:t>
            </a:r>
          </a:p>
          <a:p>
            <a:pPr algn="l">
              <a:defRPr sz="1575" b="0">
                <a:solidFill>
                  <a:srgbClr val="5D6670"/>
                </a:solidFill>
                <a:latin typeface="Arial"/>
                <a:ea typeface="Arial"/>
                <a:cs typeface="Arial"/>
              </a:defRPr>
            </a:pPr>
            <a:r>
              <a:rPr sz="1575" b="0">
                <a:solidFill>
                  <a:srgbClr val="5D6670"/>
                </a:solidFill>
                <a:latin typeface="Arial"/>
                <a:ea typeface="Arial"/>
                <a:cs typeface="Arial"/>
              </a:rPr>
              <a:t>metoprolol</a:t>
            </a:r>
          </a:p>
          <a:p>
            <a:pPr algn="l">
              <a:defRPr sz="1575" b="0">
                <a:solidFill>
                  <a:srgbClr val="5D6670"/>
                </a:solidFill>
                <a:latin typeface="Arial"/>
                <a:ea typeface="Arial"/>
                <a:cs typeface="Arial"/>
              </a:defRPr>
            </a:pPr>
            <a:r>
              <a:rPr sz="1575" b="0">
                <a:solidFill>
                  <a:srgbClr val="5D6670"/>
                </a:solidFill>
                <a:latin typeface="Arial"/>
                <a:ea typeface="Arial"/>
                <a:cs typeface="Arial"/>
              </a:rPr>
              <a:t>ranitidine</a:t>
            </a:r>
          </a:p>
          <a:p>
            <a:pPr algn="l">
              <a:defRPr sz="1575" b="0">
                <a:solidFill>
                  <a:srgbClr val="5D6670"/>
                </a:solidFill>
                <a:latin typeface="Arial"/>
                <a:ea typeface="Arial"/>
                <a:cs typeface="Arial"/>
              </a:defRPr>
            </a:pPr>
            <a:r>
              <a:rPr sz="1575" b="0">
                <a:solidFill>
                  <a:srgbClr val="5D6670"/>
                </a:solidFill>
                <a:latin typeface="Arial"/>
                <a:ea typeface="Arial"/>
                <a:cs typeface="Arial"/>
              </a:rPr>
              <a:t>amitriptyline</a:t>
            </a:r>
          </a:p>
        </p:txBody>
      </p:sp>
      <p:sp>
        <p:nvSpPr>
          <p:cNvPr id="12" name="Rectangle 11">
            <a:extLst>
              <a:ext uri="{FF2B5EF4-FFF2-40B4-BE49-F238E27FC236}">
                <a16:creationId xmlns:a16="http://schemas.microsoft.com/office/drawing/2014/main" id="{735EDF0E-3FA3-45BA-9180-6BAC56FC9FFB}"/>
              </a:ext>
            </a:extLst>
          </p:cNvPr>
          <p:cNvSpPr>
            <a:spLocks noGrp="1"/>
          </p:cNvSpPr>
          <p:nvPr/>
        </p:nvSpPr>
        <p:spPr>
          <a:xfrm>
            <a:off x="9620250" y="2705100"/>
            <a:ext cx="1714500" cy="666750"/>
          </a:xfrm>
          <a:prstGeom prst="rect">
            <a:avLst/>
          </a:prstGeom>
          <a:noFill/>
          <a:ln w="0">
            <a:noFill/>
            <a:prstDash val="solid"/>
          </a:ln>
        </p:spPr>
        <p:txBody>
          <a:bodyPr anchor="t"/>
          <a:lstStyle/>
          <a:p>
            <a:pPr algn="ctr">
              <a:defRPr sz="3600" b="1">
                <a:solidFill>
                  <a:srgbClr val="C84630"/>
                </a:solidFill>
                <a:latin typeface="Arial"/>
                <a:ea typeface="Arial"/>
                <a:cs typeface="Arial"/>
              </a:defRPr>
            </a:pPr>
            <a:r>
              <a:rPr sz="3600" b="1">
                <a:solidFill>
                  <a:srgbClr val="C84630"/>
                </a:solidFill>
                <a:latin typeface="Arial"/>
                <a:ea typeface="Arial"/>
                <a:cs typeface="Arial"/>
              </a:rPr>
              <a:t>ACB 5</a:t>
            </a:r>
          </a:p>
        </p:txBody>
      </p:sp>
      <p:sp>
        <p:nvSpPr>
          <p:cNvPr id="13" name="Rectangle 12">
            <a:extLst>
              <a:ext uri="{FF2B5EF4-FFF2-40B4-BE49-F238E27FC236}">
                <a16:creationId xmlns:a16="http://schemas.microsoft.com/office/drawing/2014/main" id="{278A8520-739A-4E10-889C-FE98E65C58A1}"/>
              </a:ext>
            </a:extLst>
          </p:cNvPr>
          <p:cNvSpPr>
            <a:spLocks noGrp="1"/>
          </p:cNvSpPr>
          <p:nvPr/>
        </p:nvSpPr>
        <p:spPr>
          <a:xfrm>
            <a:off x="400050" y="4591050"/>
            <a:ext cx="11391900" cy="1257300"/>
          </a:xfrm>
          <a:prstGeom prst="rect">
            <a:avLst/>
          </a:prstGeom>
          <a:solidFill>
            <a:srgbClr val="111111"/>
          </a:solidFill>
          <a:ln w="0">
            <a:noFill/>
            <a:prstDash val="solid"/>
          </a:ln>
        </p:spPr>
      </p:sp>
      <p:sp>
        <p:nvSpPr>
          <p:cNvPr id="14" name="Rectangle 13">
            <a:extLst>
              <a:ext uri="{FF2B5EF4-FFF2-40B4-BE49-F238E27FC236}">
                <a16:creationId xmlns:a16="http://schemas.microsoft.com/office/drawing/2014/main" id="{5DE1A6F4-A604-434C-BE7B-097A844B3EEC}"/>
              </a:ext>
            </a:extLst>
          </p:cNvPr>
          <p:cNvSpPr>
            <a:spLocks noGrp="1"/>
          </p:cNvSpPr>
          <p:nvPr/>
        </p:nvSpPr>
        <p:spPr>
          <a:xfrm>
            <a:off x="685800" y="4800600"/>
            <a:ext cx="2095500" cy="26670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a:solidFill>
                  <a:srgbClr val="6DCBF4"/>
                </a:solidFill>
                <a:latin typeface="Arial"/>
                <a:ea typeface="Arial"/>
                <a:cs typeface="Arial"/>
              </a:rPr>
              <a:t>Research question</a:t>
            </a:r>
          </a:p>
        </p:txBody>
      </p:sp>
      <p:sp>
        <p:nvSpPr>
          <p:cNvPr id="15" name="Rectangle 14">
            <a:extLst>
              <a:ext uri="{FF2B5EF4-FFF2-40B4-BE49-F238E27FC236}">
                <a16:creationId xmlns:a16="http://schemas.microsoft.com/office/drawing/2014/main" id="{E8F879D2-6636-413A-BE1D-ADBABDAF79CE}"/>
              </a:ext>
            </a:extLst>
          </p:cNvPr>
          <p:cNvSpPr>
            <a:spLocks noGrp="1"/>
          </p:cNvSpPr>
          <p:nvPr/>
        </p:nvSpPr>
        <p:spPr>
          <a:xfrm>
            <a:off x="685800" y="5124450"/>
            <a:ext cx="6858000" cy="552450"/>
          </a:xfrm>
          <a:prstGeom prst="rect">
            <a:avLst/>
          </a:prstGeom>
          <a:noFill/>
          <a:ln w="0">
            <a:noFill/>
            <a:prstDash val="solid"/>
          </a:ln>
        </p:spPr>
        <p:txBody>
          <a:bodyPr anchor="t"/>
          <a:lstStyle/>
          <a:p>
            <a:pPr algn="l">
              <a:defRPr sz="1950" b="1">
                <a:solidFill>
                  <a:srgbClr val="FFFFFF"/>
                </a:solidFill>
                <a:latin typeface="Arial"/>
                <a:ea typeface="Arial"/>
                <a:cs typeface="Arial"/>
              </a:defRPr>
            </a:pPr>
            <a:r>
              <a:rPr sz="1950" b="1">
                <a:solidFill>
                  <a:srgbClr val="FFFFFF"/>
                </a:solidFill>
                <a:latin typeface="Arial"/>
                <a:ea typeface="Arial"/>
                <a:cs typeface="Arial"/>
              </a:rPr>
              <a:t>Does higher burden predict lower DSST performance after accounting for medication count?</a:t>
            </a:r>
          </a:p>
        </p:txBody>
      </p:sp>
      <p:sp>
        <p:nvSpPr>
          <p:cNvPr id="16" name="Rectangle 15">
            <a:extLst>
              <a:ext uri="{FF2B5EF4-FFF2-40B4-BE49-F238E27FC236}">
                <a16:creationId xmlns:a16="http://schemas.microsoft.com/office/drawing/2014/main" id="{F6ECEAFB-E97A-4CA4-B914-67A18A4277C0}"/>
              </a:ext>
            </a:extLst>
          </p:cNvPr>
          <p:cNvSpPr>
            <a:spLocks noGrp="1"/>
          </p:cNvSpPr>
          <p:nvPr/>
        </p:nvSpPr>
        <p:spPr>
          <a:xfrm>
            <a:off x="8020050" y="4800600"/>
            <a:ext cx="1428750" cy="26670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a:solidFill>
                  <a:srgbClr val="6DCBF4"/>
                </a:solidFill>
                <a:latin typeface="Arial"/>
                <a:ea typeface="Arial"/>
                <a:cs typeface="Arial"/>
              </a:rPr>
              <a:t>Hypothesis</a:t>
            </a:r>
          </a:p>
        </p:txBody>
      </p:sp>
      <p:sp>
        <p:nvSpPr>
          <p:cNvPr id="17" name="Rectangle 16">
            <a:extLst>
              <a:ext uri="{FF2B5EF4-FFF2-40B4-BE49-F238E27FC236}">
                <a16:creationId xmlns:a16="http://schemas.microsoft.com/office/drawing/2014/main" id="{F5EE8A47-9404-48FB-9D3A-AC196D0BEC5C}"/>
              </a:ext>
            </a:extLst>
          </p:cNvPr>
          <p:cNvSpPr>
            <a:spLocks noGrp="1"/>
          </p:cNvSpPr>
          <p:nvPr/>
        </p:nvSpPr>
        <p:spPr>
          <a:xfrm>
            <a:off x="8020050" y="5124450"/>
            <a:ext cx="3333750" cy="552450"/>
          </a:xfrm>
          <a:prstGeom prst="rect">
            <a:avLst/>
          </a:prstGeom>
          <a:noFill/>
          <a:ln w="0">
            <a:noFill/>
            <a:prstDash val="solid"/>
          </a:ln>
        </p:spPr>
        <p:txBody>
          <a:bodyPr anchor="t"/>
          <a:lstStyle/>
          <a:p>
            <a:pPr algn="l">
              <a:defRPr sz="1725" b="1">
                <a:solidFill>
                  <a:srgbClr val="FFFFFF"/>
                </a:solidFill>
                <a:latin typeface="Arial"/>
                <a:ea typeface="Arial"/>
                <a:cs typeface="Arial"/>
              </a:defRPr>
            </a:pPr>
            <a:r>
              <a:rPr sz="1725" b="1">
                <a:solidFill>
                  <a:srgbClr val="FFFFFF"/>
                </a:solidFill>
                <a:latin typeface="Arial"/>
                <a:ea typeface="Arial"/>
                <a:cs typeface="Arial"/>
              </a:rPr>
              <a:t>Yes — the association will persist after adjustment.</a:t>
            </a:r>
          </a:p>
        </p:txBody>
      </p:sp>
      <p:sp>
        <p:nvSpPr>
          <p:cNvPr id="19" name="TextBox 18"/>
          <p:cNvSpPr txBox="1"/>
          <p:nvPr/>
        </p:nvSpPr>
        <p:spPr>
          <a:xfrm>
            <a:off x="402336" y="5943600"/>
            <a:ext cx="7863840" cy="274320"/>
          </a:xfrm>
          <a:prstGeom prst="rect">
            <a:avLst/>
          </a:prstGeom>
          <a:noFill/>
        </p:spPr>
        <p:txBody>
          <a:bodyPr wrap="square" lIns="0" tIns="0" bIns="0">
            <a:spAutoFit/>
          </a:bodyPr>
          <a:lstStyle/>
          <a:p>
            <a:r>
              <a:rPr sz="1200">
                <a:solidFill>
                  <a:srgbClr val="707070"/>
                </a:solidFill>
                <a:latin typeface="Arial"/>
              </a:rPr>
              <a:t>ACB = Anticholinergic Cognitive Burden score   |   DSST = Digit Symbol Substitution Test</a:t>
            </a:r>
          </a:p>
        </p:txBody>
      </p:sp>
    </p:spTree>
    <p:extLst>
      <p:ext uri="{BB962C8B-B14F-4D97-AF65-F5344CB8AC3E}">
        <p14:creationId xmlns:p14="http://schemas.microsoft.com/office/powerpoint/2010/main" val="1572771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4-title">
            <a:extLst>
              <a:ext uri="{FF2B5EF4-FFF2-40B4-BE49-F238E27FC236}">
                <a16:creationId xmlns:a16="http://schemas.microsoft.com/office/drawing/2014/main" id="{BE982E33-28AF-4C61-A096-379B7CE2B23E}"/>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NHANES linked prescriptions with cognitive performance</a:t>
            </a:r>
          </a:p>
        </p:txBody>
      </p:sp>
      <p:sp>
        <p:nvSpPr>
          <p:cNvPr id="2" name="slide-4-eyebrow">
            <a:extLst>
              <a:ext uri="{FF2B5EF4-FFF2-40B4-BE49-F238E27FC236}">
                <a16:creationId xmlns:a16="http://schemas.microsoft.com/office/drawing/2014/main" id="{81CE1C72-661A-4552-B160-CD9B8D8FA090}"/>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METHODS</a:t>
            </a:r>
          </a:p>
        </p:txBody>
      </p:sp>
      <p:sp>
        <p:nvSpPr>
          <p:cNvPr id="3" name="slide-4-number">
            <a:extLst>
              <a:ext uri="{FF2B5EF4-FFF2-40B4-BE49-F238E27FC236}">
                <a16:creationId xmlns:a16="http://schemas.microsoft.com/office/drawing/2014/main" id="{9F5094C6-3F49-4B47-A96C-9B300FA1B6A1}"/>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4</a:t>
            </a:r>
          </a:p>
        </p:txBody>
      </p:sp>
      <p:sp>
        <p:nvSpPr>
          <p:cNvPr id="4" name="Straight Connector 3">
            <a:extLst>
              <a:ext uri="{FF2B5EF4-FFF2-40B4-BE49-F238E27FC236}">
                <a16:creationId xmlns:a16="http://schemas.microsoft.com/office/drawing/2014/main" id="{F9447DED-9F32-4220-A407-43D036020218}"/>
              </a:ext>
            </a:extLst>
          </p:cNvPr>
          <p:cNvSpPr>
            <a:spLocks noGrp="1"/>
          </p:cNvSpPr>
          <p:nvPr/>
        </p:nvSpPr>
        <p:spPr>
          <a:xfrm>
            <a:off x="1325880" y="2152650"/>
            <a:ext cx="8567928" cy="0"/>
          </a:xfrm>
          <a:prstGeom prst="line">
            <a:avLst/>
          </a:prstGeom>
          <a:noFill/>
          <a:ln w="28575">
            <a:solidFill>
              <a:srgbClr val="B8BCC4"/>
            </a:solidFill>
            <a:prstDash val="solid"/>
          </a:ln>
        </p:spPr>
      </p:sp>
      <p:sp>
        <p:nvSpPr>
          <p:cNvPr id="5" name="Oval 4">
            <a:extLst>
              <a:ext uri="{FF2B5EF4-FFF2-40B4-BE49-F238E27FC236}">
                <a16:creationId xmlns:a16="http://schemas.microsoft.com/office/drawing/2014/main" id="{AF3718E9-37DF-4393-8EE6-59FCCA218BBF}"/>
              </a:ext>
            </a:extLst>
          </p:cNvPr>
          <p:cNvSpPr>
            <a:spLocks noGrp="1"/>
          </p:cNvSpPr>
          <p:nvPr/>
        </p:nvSpPr>
        <p:spPr>
          <a:xfrm>
            <a:off x="1085850" y="1914525"/>
            <a:ext cx="476250" cy="476250"/>
          </a:xfrm>
          <a:prstGeom prst="ellipse">
            <a:avLst/>
          </a:prstGeom>
          <a:solidFill>
            <a:srgbClr val="111111"/>
          </a:solidFill>
          <a:ln w="0">
            <a:noFill/>
            <a:prstDash val="solid"/>
          </a:ln>
        </p:spPr>
      </p:sp>
      <p:sp>
        <p:nvSpPr>
          <p:cNvPr id="6" name="Rectangle 5">
            <a:extLst>
              <a:ext uri="{FF2B5EF4-FFF2-40B4-BE49-F238E27FC236}">
                <a16:creationId xmlns:a16="http://schemas.microsoft.com/office/drawing/2014/main" id="{7A8D7A4D-EAE0-4681-B317-1FD96DE3AE84}"/>
              </a:ext>
            </a:extLst>
          </p:cNvPr>
          <p:cNvSpPr>
            <a:spLocks noGrp="1"/>
          </p:cNvSpPr>
          <p:nvPr/>
        </p:nvSpPr>
        <p:spPr>
          <a:xfrm>
            <a:off x="400050" y="2609850"/>
            <a:ext cx="1857375" cy="495300"/>
          </a:xfrm>
          <a:prstGeom prst="rect">
            <a:avLst/>
          </a:prstGeom>
          <a:noFill/>
          <a:ln w="0">
            <a:noFill/>
            <a:prstDash val="solid"/>
          </a:ln>
        </p:spPr>
        <p:txBody>
          <a:bodyPr anchor="t"/>
          <a:lstStyle/>
          <a:p>
            <a:pPr algn="ctr">
              <a:defRPr sz="2700" b="1">
                <a:solidFill>
                  <a:srgbClr val="111111"/>
                </a:solidFill>
                <a:latin typeface="Arial"/>
                <a:ea typeface="Arial"/>
                <a:cs typeface="Arial"/>
              </a:defRPr>
            </a:pPr>
            <a:r>
              <a:rPr sz="2700" b="1">
                <a:solidFill>
                  <a:srgbClr val="111111"/>
                </a:solidFill>
                <a:latin typeface="Arial"/>
                <a:ea typeface="Arial"/>
                <a:cs typeface="Arial"/>
              </a:rPr>
              <a:t>10,175</a:t>
            </a:r>
          </a:p>
        </p:txBody>
      </p:sp>
      <p:sp>
        <p:nvSpPr>
          <p:cNvPr id="7" name="Rectangle 6">
            <a:extLst>
              <a:ext uri="{FF2B5EF4-FFF2-40B4-BE49-F238E27FC236}">
                <a16:creationId xmlns:a16="http://schemas.microsoft.com/office/drawing/2014/main" id="{96031CB8-4549-4370-9C36-78F499B9E7FA}"/>
              </a:ext>
            </a:extLst>
          </p:cNvPr>
          <p:cNvSpPr>
            <a:spLocks noGrp="1"/>
          </p:cNvSpPr>
          <p:nvPr/>
        </p:nvSpPr>
        <p:spPr>
          <a:xfrm>
            <a:off x="400050" y="3143250"/>
            <a:ext cx="1857375" cy="552450"/>
          </a:xfrm>
          <a:prstGeom prst="rect">
            <a:avLst/>
          </a:prstGeom>
          <a:noFill/>
          <a:ln w="0">
            <a:noFill/>
            <a:prstDash val="solid"/>
          </a:ln>
        </p:spPr>
        <p:txBody>
          <a:bodyPr anchor="t"/>
          <a:lstStyle/>
          <a:p>
            <a:pPr algn="ctr">
              <a:defRPr sz="1350" b="0">
                <a:solidFill>
                  <a:srgbClr val="5D6670"/>
                </a:solidFill>
                <a:latin typeface="Arial"/>
                <a:ea typeface="Arial"/>
                <a:cs typeface="Arial"/>
              </a:defRPr>
            </a:pPr>
            <a:r>
              <a:rPr sz="1350" b="0">
                <a:solidFill>
                  <a:srgbClr val="5D6670"/>
                </a:solidFill>
                <a:latin typeface="Arial"/>
                <a:ea typeface="Arial"/>
                <a:cs typeface="Arial"/>
              </a:rPr>
              <a:t>NHANES</a:t>
            </a:r>
          </a:p>
          <a:p>
            <a:pPr algn="ctr">
              <a:defRPr sz="1350" b="0">
                <a:solidFill>
                  <a:srgbClr val="5D6670"/>
                </a:solidFill>
                <a:latin typeface="Arial"/>
                <a:ea typeface="Arial"/>
                <a:cs typeface="Arial"/>
              </a:defRPr>
            </a:pPr>
            <a:r>
              <a:rPr sz="1350" b="0">
                <a:solidFill>
                  <a:srgbClr val="5D6670"/>
                </a:solidFill>
                <a:latin typeface="Arial"/>
                <a:ea typeface="Arial"/>
                <a:cs typeface="Arial"/>
              </a:rPr>
              <a:t>participants</a:t>
            </a:r>
          </a:p>
        </p:txBody>
      </p:sp>
      <p:sp>
        <p:nvSpPr>
          <p:cNvPr id="8" name="Oval 7">
            <a:extLst>
              <a:ext uri="{FF2B5EF4-FFF2-40B4-BE49-F238E27FC236}">
                <a16:creationId xmlns:a16="http://schemas.microsoft.com/office/drawing/2014/main" id="{EE0549D9-E93D-4874-B04E-269B3A4DFE43}"/>
              </a:ext>
            </a:extLst>
          </p:cNvPr>
          <p:cNvSpPr>
            <a:spLocks noGrp="1"/>
          </p:cNvSpPr>
          <p:nvPr/>
        </p:nvSpPr>
        <p:spPr>
          <a:xfrm>
            <a:off x="3943350" y="1914525"/>
            <a:ext cx="476250" cy="476250"/>
          </a:xfrm>
          <a:prstGeom prst="ellipse">
            <a:avLst/>
          </a:prstGeom>
          <a:solidFill>
            <a:srgbClr val="111111"/>
          </a:solidFill>
          <a:ln w="0">
            <a:noFill/>
            <a:prstDash val="solid"/>
          </a:ln>
        </p:spPr>
      </p:sp>
      <p:sp>
        <p:nvSpPr>
          <p:cNvPr id="9" name="Rectangle 8">
            <a:extLst>
              <a:ext uri="{FF2B5EF4-FFF2-40B4-BE49-F238E27FC236}">
                <a16:creationId xmlns:a16="http://schemas.microsoft.com/office/drawing/2014/main" id="{918F8136-CB07-4AF4-89C1-785E53B4E619}"/>
              </a:ext>
            </a:extLst>
          </p:cNvPr>
          <p:cNvSpPr>
            <a:spLocks noGrp="1"/>
          </p:cNvSpPr>
          <p:nvPr/>
        </p:nvSpPr>
        <p:spPr>
          <a:xfrm>
            <a:off x="3257550" y="2609850"/>
            <a:ext cx="1857375" cy="495300"/>
          </a:xfrm>
          <a:prstGeom prst="rect">
            <a:avLst/>
          </a:prstGeom>
          <a:noFill/>
          <a:ln w="0">
            <a:noFill/>
            <a:prstDash val="solid"/>
          </a:ln>
        </p:spPr>
        <p:txBody>
          <a:bodyPr anchor="t"/>
          <a:lstStyle/>
          <a:p>
            <a:pPr algn="ctr">
              <a:defRPr sz="2700" b="1">
                <a:solidFill>
                  <a:srgbClr val="111111"/>
                </a:solidFill>
                <a:latin typeface="Arial"/>
                <a:ea typeface="Arial"/>
                <a:cs typeface="Arial"/>
              </a:defRPr>
            </a:pPr>
            <a:r>
              <a:rPr sz="2700" b="1">
                <a:solidFill>
                  <a:srgbClr val="111111"/>
                </a:solidFill>
                <a:latin typeface="Arial"/>
                <a:ea typeface="Arial"/>
                <a:cs typeface="Arial"/>
              </a:rPr>
              <a:t>1,841</a:t>
            </a:r>
          </a:p>
        </p:txBody>
      </p:sp>
      <p:sp>
        <p:nvSpPr>
          <p:cNvPr id="10" name="Rectangle 9">
            <a:extLst>
              <a:ext uri="{FF2B5EF4-FFF2-40B4-BE49-F238E27FC236}">
                <a16:creationId xmlns:a16="http://schemas.microsoft.com/office/drawing/2014/main" id="{EE63261D-2DEF-4F8E-A6EC-2C6AFE34FE12}"/>
              </a:ext>
            </a:extLst>
          </p:cNvPr>
          <p:cNvSpPr>
            <a:spLocks noGrp="1"/>
          </p:cNvSpPr>
          <p:nvPr/>
        </p:nvSpPr>
        <p:spPr>
          <a:xfrm>
            <a:off x="3257550" y="3143250"/>
            <a:ext cx="1857375" cy="552450"/>
          </a:xfrm>
          <a:prstGeom prst="rect">
            <a:avLst/>
          </a:prstGeom>
          <a:noFill/>
          <a:ln w="0">
            <a:noFill/>
            <a:prstDash val="solid"/>
          </a:ln>
        </p:spPr>
        <p:txBody>
          <a:bodyPr anchor="t"/>
          <a:lstStyle/>
          <a:p>
            <a:pPr algn="ctr">
              <a:defRPr sz="1350" b="0">
                <a:solidFill>
                  <a:srgbClr val="5D6670"/>
                </a:solidFill>
                <a:latin typeface="Arial"/>
                <a:ea typeface="Arial"/>
                <a:cs typeface="Arial"/>
              </a:defRPr>
            </a:pPr>
            <a:r>
              <a:rPr sz="1350" b="0">
                <a:solidFill>
                  <a:srgbClr val="5D6670"/>
                </a:solidFill>
                <a:latin typeface="Arial"/>
                <a:ea typeface="Arial"/>
                <a:cs typeface="Arial"/>
              </a:rPr>
              <a:t>aged 60</a:t>
            </a:r>
          </a:p>
          <a:p>
            <a:pPr algn="ctr">
              <a:defRPr sz="1350" b="0">
                <a:solidFill>
                  <a:srgbClr val="5D6670"/>
                </a:solidFill>
                <a:latin typeface="Arial"/>
                <a:ea typeface="Arial"/>
                <a:cs typeface="Arial"/>
              </a:defRPr>
            </a:pPr>
            <a:r>
              <a:rPr sz="1350" b="0">
                <a:solidFill>
                  <a:srgbClr val="5D6670"/>
                </a:solidFill>
                <a:latin typeface="Arial"/>
                <a:ea typeface="Arial"/>
                <a:cs typeface="Arial"/>
              </a:rPr>
              <a:t>or older</a:t>
            </a:r>
          </a:p>
        </p:txBody>
      </p:sp>
      <p:sp>
        <p:nvSpPr>
          <p:cNvPr id="11" name="Oval 10">
            <a:extLst>
              <a:ext uri="{FF2B5EF4-FFF2-40B4-BE49-F238E27FC236}">
                <a16:creationId xmlns:a16="http://schemas.microsoft.com/office/drawing/2014/main" id="{9ABAD658-215A-427B-8CAF-2BD1F4432A2C}"/>
              </a:ext>
            </a:extLst>
          </p:cNvPr>
          <p:cNvSpPr>
            <a:spLocks noGrp="1"/>
          </p:cNvSpPr>
          <p:nvPr/>
        </p:nvSpPr>
        <p:spPr>
          <a:xfrm>
            <a:off x="6800850" y="1914525"/>
            <a:ext cx="476250" cy="476250"/>
          </a:xfrm>
          <a:prstGeom prst="ellipse">
            <a:avLst/>
          </a:prstGeom>
          <a:solidFill>
            <a:srgbClr val="111111"/>
          </a:solidFill>
          <a:ln w="0">
            <a:noFill/>
            <a:prstDash val="solid"/>
          </a:ln>
        </p:spPr>
      </p:sp>
      <p:sp>
        <p:nvSpPr>
          <p:cNvPr id="12" name="Rectangle 11">
            <a:extLst>
              <a:ext uri="{FF2B5EF4-FFF2-40B4-BE49-F238E27FC236}">
                <a16:creationId xmlns:a16="http://schemas.microsoft.com/office/drawing/2014/main" id="{128C5670-05FD-41E0-AD16-250F90625E5D}"/>
              </a:ext>
            </a:extLst>
          </p:cNvPr>
          <p:cNvSpPr>
            <a:spLocks noGrp="1"/>
          </p:cNvSpPr>
          <p:nvPr/>
        </p:nvSpPr>
        <p:spPr>
          <a:xfrm>
            <a:off x="6115050" y="2609850"/>
            <a:ext cx="1857375" cy="495300"/>
          </a:xfrm>
          <a:prstGeom prst="rect">
            <a:avLst/>
          </a:prstGeom>
          <a:noFill/>
          <a:ln w="0">
            <a:noFill/>
            <a:prstDash val="solid"/>
          </a:ln>
        </p:spPr>
        <p:txBody>
          <a:bodyPr anchor="t"/>
          <a:lstStyle/>
          <a:p>
            <a:pPr algn="ctr">
              <a:defRPr sz="2700" b="1">
                <a:solidFill>
                  <a:srgbClr val="111111"/>
                </a:solidFill>
                <a:latin typeface="Arial"/>
                <a:ea typeface="Arial"/>
                <a:cs typeface="Arial"/>
              </a:defRPr>
            </a:pPr>
            <a:r>
              <a:rPr sz="2700" b="1">
                <a:solidFill>
                  <a:srgbClr val="111111"/>
                </a:solidFill>
                <a:latin typeface="Arial"/>
                <a:ea typeface="Arial"/>
                <a:cs typeface="Arial"/>
              </a:rPr>
              <a:t>1,785</a:t>
            </a:r>
          </a:p>
        </p:txBody>
      </p:sp>
      <p:sp>
        <p:nvSpPr>
          <p:cNvPr id="13" name="Rectangle 12">
            <a:extLst>
              <a:ext uri="{FF2B5EF4-FFF2-40B4-BE49-F238E27FC236}">
                <a16:creationId xmlns:a16="http://schemas.microsoft.com/office/drawing/2014/main" id="{86C917D9-5608-4670-94D3-772C04B41B36}"/>
              </a:ext>
            </a:extLst>
          </p:cNvPr>
          <p:cNvSpPr>
            <a:spLocks noGrp="1"/>
          </p:cNvSpPr>
          <p:nvPr/>
        </p:nvSpPr>
        <p:spPr>
          <a:xfrm>
            <a:off x="6115050" y="3143250"/>
            <a:ext cx="1857375" cy="552450"/>
          </a:xfrm>
          <a:prstGeom prst="rect">
            <a:avLst/>
          </a:prstGeom>
          <a:noFill/>
          <a:ln w="0">
            <a:noFill/>
            <a:prstDash val="solid"/>
          </a:ln>
        </p:spPr>
        <p:txBody>
          <a:bodyPr anchor="t"/>
          <a:lstStyle/>
          <a:p>
            <a:pPr algn="ctr">
              <a:defRPr sz="1350" b="0">
                <a:solidFill>
                  <a:srgbClr val="5D6670"/>
                </a:solidFill>
                <a:latin typeface="Arial"/>
                <a:ea typeface="Arial"/>
                <a:cs typeface="Arial"/>
              </a:defRPr>
            </a:pPr>
            <a:r>
              <a:rPr sz="1350" b="0">
                <a:solidFill>
                  <a:srgbClr val="5D6670"/>
                </a:solidFill>
                <a:latin typeface="Arial"/>
                <a:ea typeface="Arial"/>
                <a:cs typeface="Arial"/>
              </a:rPr>
              <a:t>received cognitive</a:t>
            </a:r>
          </a:p>
          <a:p>
            <a:pPr algn="ctr">
              <a:defRPr sz="1350" b="0">
                <a:solidFill>
                  <a:srgbClr val="5D6670"/>
                </a:solidFill>
                <a:latin typeface="Arial"/>
                <a:ea typeface="Arial"/>
                <a:cs typeface="Arial"/>
              </a:defRPr>
            </a:pPr>
            <a:r>
              <a:rPr sz="1350" b="0">
                <a:solidFill>
                  <a:srgbClr val="5D6670"/>
                </a:solidFill>
                <a:latin typeface="Arial"/>
                <a:ea typeface="Arial"/>
                <a:cs typeface="Arial"/>
              </a:rPr>
              <a:t>module</a:t>
            </a:r>
          </a:p>
        </p:txBody>
      </p:sp>
      <p:sp>
        <p:nvSpPr>
          <p:cNvPr id="14" name="Oval 13">
            <a:extLst>
              <a:ext uri="{FF2B5EF4-FFF2-40B4-BE49-F238E27FC236}">
                <a16:creationId xmlns:a16="http://schemas.microsoft.com/office/drawing/2014/main" id="{AB715B2C-ABB6-4576-882D-47876C542F01}"/>
              </a:ext>
            </a:extLst>
          </p:cNvPr>
          <p:cNvSpPr>
            <a:spLocks noGrp="1"/>
          </p:cNvSpPr>
          <p:nvPr/>
        </p:nvSpPr>
        <p:spPr>
          <a:xfrm>
            <a:off x="9658350" y="1914525"/>
            <a:ext cx="476250" cy="476250"/>
          </a:xfrm>
          <a:prstGeom prst="ellipse">
            <a:avLst/>
          </a:prstGeom>
          <a:solidFill>
            <a:srgbClr val="2D78C8"/>
          </a:solidFill>
          <a:ln w="0">
            <a:noFill/>
            <a:prstDash val="solid"/>
          </a:ln>
        </p:spPr>
      </p:sp>
      <p:sp>
        <p:nvSpPr>
          <p:cNvPr id="15" name="Rectangle 14">
            <a:extLst>
              <a:ext uri="{FF2B5EF4-FFF2-40B4-BE49-F238E27FC236}">
                <a16:creationId xmlns:a16="http://schemas.microsoft.com/office/drawing/2014/main" id="{17B97B9D-E4A8-4171-AD3F-B116920674FB}"/>
              </a:ext>
            </a:extLst>
          </p:cNvPr>
          <p:cNvSpPr>
            <a:spLocks noGrp="1"/>
          </p:cNvSpPr>
          <p:nvPr/>
        </p:nvSpPr>
        <p:spPr>
          <a:xfrm>
            <a:off x="8972550" y="2609850"/>
            <a:ext cx="1857375" cy="495300"/>
          </a:xfrm>
          <a:prstGeom prst="rect">
            <a:avLst/>
          </a:prstGeom>
          <a:noFill/>
          <a:ln w="0">
            <a:noFill/>
            <a:prstDash val="solid"/>
          </a:ln>
        </p:spPr>
        <p:txBody>
          <a:bodyPr anchor="t"/>
          <a:lstStyle/>
          <a:p>
            <a:pPr algn="ctr">
              <a:defRPr sz="2700" b="1">
                <a:solidFill>
                  <a:srgbClr val="2D78C8"/>
                </a:solidFill>
                <a:latin typeface="Arial"/>
                <a:ea typeface="Arial"/>
                <a:cs typeface="Arial"/>
              </a:defRPr>
            </a:pPr>
            <a:r>
              <a:rPr sz="2700" b="1">
                <a:solidFill>
                  <a:srgbClr val="2D78C8"/>
                </a:solidFill>
                <a:latin typeface="Arial"/>
                <a:ea typeface="Arial"/>
                <a:cs typeface="Arial"/>
              </a:rPr>
              <a:t>1,592</a:t>
            </a:r>
          </a:p>
        </p:txBody>
      </p:sp>
      <p:sp>
        <p:nvSpPr>
          <p:cNvPr id="16" name="Rectangle 15">
            <a:extLst>
              <a:ext uri="{FF2B5EF4-FFF2-40B4-BE49-F238E27FC236}">
                <a16:creationId xmlns:a16="http://schemas.microsoft.com/office/drawing/2014/main" id="{5EFF7B0A-1141-4D0C-98CE-6127C4B5295C}"/>
              </a:ext>
            </a:extLst>
          </p:cNvPr>
          <p:cNvSpPr>
            <a:spLocks noGrp="1"/>
          </p:cNvSpPr>
          <p:nvPr/>
        </p:nvSpPr>
        <p:spPr>
          <a:xfrm>
            <a:off x="8972550" y="3143250"/>
            <a:ext cx="1857375" cy="552450"/>
          </a:xfrm>
          <a:prstGeom prst="rect">
            <a:avLst/>
          </a:prstGeom>
          <a:noFill/>
          <a:ln w="0">
            <a:noFill/>
            <a:prstDash val="solid"/>
          </a:ln>
        </p:spPr>
        <p:txBody>
          <a:bodyPr anchor="t"/>
          <a:lstStyle/>
          <a:p>
            <a:pPr algn="ctr">
              <a:defRPr sz="1350" b="0">
                <a:solidFill>
                  <a:srgbClr val="5D6670"/>
                </a:solidFill>
                <a:latin typeface="Arial"/>
                <a:ea typeface="Arial"/>
                <a:cs typeface="Arial"/>
              </a:defRPr>
            </a:pPr>
            <a:r>
              <a:rPr sz="1350" b="0">
                <a:solidFill>
                  <a:srgbClr val="5D6670"/>
                </a:solidFill>
                <a:latin typeface="Arial"/>
                <a:ea typeface="Arial"/>
                <a:cs typeface="Arial"/>
              </a:rPr>
              <a:t>valid DSST</a:t>
            </a:r>
          </a:p>
          <a:p>
            <a:pPr algn="ctr">
              <a:defRPr sz="1350" b="0">
                <a:solidFill>
                  <a:srgbClr val="5D6670"/>
                </a:solidFill>
                <a:latin typeface="Arial"/>
                <a:ea typeface="Arial"/>
                <a:cs typeface="Arial"/>
              </a:defRPr>
            </a:pPr>
            <a:r>
              <a:rPr sz="1350" b="0">
                <a:solidFill>
                  <a:srgbClr val="5D6670"/>
                </a:solidFill>
                <a:latin typeface="Arial"/>
                <a:ea typeface="Arial"/>
                <a:cs typeface="Arial"/>
              </a:rPr>
              <a:t>primary sample</a:t>
            </a:r>
          </a:p>
        </p:txBody>
      </p:sp>
      <p:sp>
        <p:nvSpPr>
          <p:cNvPr id="17" name="Rectangle 16">
            <a:extLst>
              <a:ext uri="{FF2B5EF4-FFF2-40B4-BE49-F238E27FC236}">
                <a16:creationId xmlns:a16="http://schemas.microsoft.com/office/drawing/2014/main" id="{B8EBBBC7-F2DF-49B8-A76D-E82AF5B9A484}"/>
              </a:ext>
            </a:extLst>
          </p:cNvPr>
          <p:cNvSpPr>
            <a:spLocks noGrp="1"/>
          </p:cNvSpPr>
          <p:nvPr/>
        </p:nvSpPr>
        <p:spPr>
          <a:xfrm>
            <a:off x="400050" y="4229100"/>
            <a:ext cx="11391900" cy="1466850"/>
          </a:xfrm>
          <a:prstGeom prst="rect">
            <a:avLst/>
          </a:prstGeom>
          <a:solidFill>
            <a:srgbClr val="F6F7F8"/>
          </a:solidFill>
          <a:ln w="0">
            <a:noFill/>
            <a:prstDash val="solid"/>
          </a:ln>
        </p:spPr>
      </p:sp>
      <p:sp>
        <p:nvSpPr>
          <p:cNvPr id="18" name="Rectangle 17">
            <a:extLst>
              <a:ext uri="{FF2B5EF4-FFF2-40B4-BE49-F238E27FC236}">
                <a16:creationId xmlns:a16="http://schemas.microsoft.com/office/drawing/2014/main" id="{96982024-BC0B-40A0-AE3F-22EEFAC29C3E}"/>
              </a:ext>
            </a:extLst>
          </p:cNvPr>
          <p:cNvSpPr>
            <a:spLocks noGrp="1"/>
          </p:cNvSpPr>
          <p:nvPr/>
        </p:nvSpPr>
        <p:spPr>
          <a:xfrm>
            <a:off x="666750" y="4514850"/>
            <a:ext cx="2476500" cy="266700"/>
          </a:xfrm>
          <a:prstGeom prst="rect">
            <a:avLst/>
          </a:prstGeom>
          <a:noFill/>
          <a:ln w="0">
            <a:noFill/>
            <a:prstDash val="solid"/>
          </a:ln>
        </p:spPr>
        <p:txBody>
          <a:bodyPr anchor="t"/>
          <a:lstStyle/>
          <a:p>
            <a:pPr algn="l">
              <a:defRPr sz="1575" b="1">
                <a:solidFill>
                  <a:srgbClr val="24597F"/>
                </a:solidFill>
                <a:latin typeface="Arial"/>
                <a:ea typeface="Arial"/>
                <a:cs typeface="Arial"/>
              </a:defRPr>
            </a:pPr>
            <a:r>
              <a:rPr sz="1575" b="1">
                <a:solidFill>
                  <a:srgbClr val="24597F"/>
                </a:solidFill>
                <a:latin typeface="Arial"/>
                <a:ea typeface="Arial"/>
                <a:cs typeface="Arial"/>
              </a:rPr>
              <a:t>Exposure</a:t>
            </a:r>
          </a:p>
        </p:txBody>
      </p:sp>
      <p:sp>
        <p:nvSpPr>
          <p:cNvPr id="19" name="Rectangle 18">
            <a:extLst>
              <a:ext uri="{FF2B5EF4-FFF2-40B4-BE49-F238E27FC236}">
                <a16:creationId xmlns:a16="http://schemas.microsoft.com/office/drawing/2014/main" id="{04DF4D65-D433-4F01-A80F-DCA76773688A}"/>
              </a:ext>
            </a:extLst>
          </p:cNvPr>
          <p:cNvSpPr>
            <a:spLocks noGrp="1"/>
          </p:cNvSpPr>
          <p:nvPr/>
        </p:nvSpPr>
        <p:spPr>
          <a:xfrm>
            <a:off x="666750" y="4895850"/>
            <a:ext cx="3143250" cy="64770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Boustani ACB (0–3)</a:t>
            </a:r>
          </a:p>
          <a:p>
            <a:pPr algn="l">
              <a:defRPr sz="1350" b="0">
                <a:solidFill>
                  <a:srgbClr val="5D6670"/>
                </a:solidFill>
                <a:latin typeface="Arial"/>
                <a:ea typeface="Arial"/>
                <a:cs typeface="Arial"/>
              </a:defRPr>
            </a:pPr>
            <a:r>
              <a:rPr sz="1350" b="0">
                <a:solidFill>
                  <a:srgbClr val="5D6670"/>
                </a:solidFill>
                <a:latin typeface="Arial"/>
                <a:ea typeface="Arial"/>
                <a:cs typeface="Arial"/>
              </a:rPr>
              <a:t>Sensitivity: IACB (0–4)</a:t>
            </a:r>
          </a:p>
        </p:txBody>
      </p:sp>
      <p:sp>
        <p:nvSpPr>
          <p:cNvPr id="20" name="Rectangle 19">
            <a:extLst>
              <a:ext uri="{FF2B5EF4-FFF2-40B4-BE49-F238E27FC236}">
                <a16:creationId xmlns:a16="http://schemas.microsoft.com/office/drawing/2014/main" id="{5CA22634-E2FC-4783-938A-F9A7B3DB5ED0}"/>
              </a:ext>
            </a:extLst>
          </p:cNvPr>
          <p:cNvSpPr>
            <a:spLocks noGrp="1"/>
          </p:cNvSpPr>
          <p:nvPr/>
        </p:nvSpPr>
        <p:spPr>
          <a:xfrm>
            <a:off x="4400550" y="4514850"/>
            <a:ext cx="2476500" cy="266700"/>
          </a:xfrm>
          <a:prstGeom prst="rect">
            <a:avLst/>
          </a:prstGeom>
          <a:noFill/>
          <a:ln w="0">
            <a:noFill/>
            <a:prstDash val="solid"/>
          </a:ln>
        </p:spPr>
        <p:txBody>
          <a:bodyPr anchor="t"/>
          <a:lstStyle/>
          <a:p>
            <a:pPr algn="l">
              <a:defRPr sz="1575" b="1">
                <a:solidFill>
                  <a:srgbClr val="24597F"/>
                </a:solidFill>
                <a:latin typeface="Arial"/>
                <a:ea typeface="Arial"/>
                <a:cs typeface="Arial"/>
              </a:defRPr>
            </a:pPr>
            <a:r>
              <a:rPr sz="1575" b="1">
                <a:solidFill>
                  <a:srgbClr val="24597F"/>
                </a:solidFill>
                <a:latin typeface="Arial"/>
                <a:ea typeface="Arial"/>
                <a:cs typeface="Arial"/>
              </a:rPr>
              <a:t>Outcomes</a:t>
            </a:r>
          </a:p>
        </p:txBody>
      </p:sp>
      <p:sp>
        <p:nvSpPr>
          <p:cNvPr id="21" name="Rectangle 20">
            <a:extLst>
              <a:ext uri="{FF2B5EF4-FFF2-40B4-BE49-F238E27FC236}">
                <a16:creationId xmlns:a16="http://schemas.microsoft.com/office/drawing/2014/main" id="{0CAED2B5-A374-454D-A905-8CA4EF6567E1}"/>
              </a:ext>
            </a:extLst>
          </p:cNvPr>
          <p:cNvSpPr>
            <a:spLocks noGrp="1"/>
          </p:cNvSpPr>
          <p:nvPr/>
        </p:nvSpPr>
        <p:spPr>
          <a:xfrm>
            <a:off x="4400550" y="4895850"/>
            <a:ext cx="3143250" cy="64770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Primary: DSST processing speed</a:t>
            </a:r>
          </a:p>
          <a:p>
            <a:pPr algn="l">
              <a:defRPr sz="1350" b="0">
                <a:solidFill>
                  <a:srgbClr val="5D6670"/>
                </a:solidFill>
                <a:latin typeface="Arial"/>
                <a:ea typeface="Arial"/>
                <a:cs typeface="Arial"/>
              </a:defRPr>
            </a:pPr>
            <a:r>
              <a:rPr sz="1350" b="0">
                <a:solidFill>
                  <a:srgbClr val="5D6670"/>
                </a:solidFill>
                <a:latin typeface="Arial"/>
                <a:ea typeface="Arial"/>
                <a:cs typeface="Arial"/>
              </a:rPr>
              <a:t>Secondary: animal fluency</a:t>
            </a:r>
          </a:p>
        </p:txBody>
      </p:sp>
      <p:sp>
        <p:nvSpPr>
          <p:cNvPr id="22" name="Rectangle 21">
            <a:extLst>
              <a:ext uri="{FF2B5EF4-FFF2-40B4-BE49-F238E27FC236}">
                <a16:creationId xmlns:a16="http://schemas.microsoft.com/office/drawing/2014/main" id="{187F4235-B88A-419F-A8B2-8D76A42A6926}"/>
              </a:ext>
            </a:extLst>
          </p:cNvPr>
          <p:cNvSpPr>
            <a:spLocks noGrp="1"/>
          </p:cNvSpPr>
          <p:nvPr/>
        </p:nvSpPr>
        <p:spPr>
          <a:xfrm>
            <a:off x="8134350" y="4514850"/>
            <a:ext cx="2476500" cy="266700"/>
          </a:xfrm>
          <a:prstGeom prst="rect">
            <a:avLst/>
          </a:prstGeom>
          <a:noFill/>
          <a:ln w="0">
            <a:noFill/>
            <a:prstDash val="solid"/>
          </a:ln>
        </p:spPr>
        <p:txBody>
          <a:bodyPr anchor="t"/>
          <a:lstStyle/>
          <a:p>
            <a:pPr algn="l">
              <a:defRPr sz="1575" b="1">
                <a:solidFill>
                  <a:srgbClr val="24597F"/>
                </a:solidFill>
                <a:latin typeface="Arial"/>
                <a:ea typeface="Arial"/>
                <a:cs typeface="Arial"/>
              </a:defRPr>
            </a:pPr>
            <a:r>
              <a:rPr sz="1575" b="1">
                <a:solidFill>
                  <a:srgbClr val="24597F"/>
                </a:solidFill>
                <a:latin typeface="Arial"/>
                <a:ea typeface="Arial"/>
                <a:cs typeface="Arial"/>
              </a:rPr>
              <a:t>Analysis</a:t>
            </a:r>
          </a:p>
        </p:txBody>
      </p:sp>
      <p:sp>
        <p:nvSpPr>
          <p:cNvPr id="23" name="Rectangle 22">
            <a:extLst>
              <a:ext uri="{FF2B5EF4-FFF2-40B4-BE49-F238E27FC236}">
                <a16:creationId xmlns:a16="http://schemas.microsoft.com/office/drawing/2014/main" id="{0F9E713C-DADF-4DD1-A3E1-AD7141653043}"/>
              </a:ext>
            </a:extLst>
          </p:cNvPr>
          <p:cNvSpPr>
            <a:spLocks noGrp="1"/>
          </p:cNvSpPr>
          <p:nvPr/>
        </p:nvSpPr>
        <p:spPr>
          <a:xfrm>
            <a:off x="8134350" y="4895850"/>
            <a:ext cx="3143250" cy="64770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Survey-weighted linear regression</a:t>
            </a:r>
          </a:p>
          <a:p>
            <a:pPr algn="l">
              <a:defRPr sz="1350" b="0">
                <a:solidFill>
                  <a:srgbClr val="5D6670"/>
                </a:solidFill>
                <a:latin typeface="Arial"/>
                <a:ea typeface="Arial"/>
                <a:cs typeface="Arial"/>
              </a:defRPr>
            </a:pPr>
            <a:r>
              <a:rPr sz="1350" b="0">
                <a:solidFill>
                  <a:srgbClr val="5D6670"/>
                </a:solidFill>
                <a:latin typeface="Arial"/>
                <a:ea typeface="Arial"/>
                <a:cs typeface="Arial"/>
              </a:rPr>
              <a:t>Burden and medication count together</a:t>
            </a:r>
          </a:p>
        </p:txBody>
      </p:sp>
      <p:sp>
        <p:nvSpPr>
          <p:cNvPr id="24" name="Rectangle 23">
            <a:extLst>
              <a:ext uri="{FF2B5EF4-FFF2-40B4-BE49-F238E27FC236}">
                <a16:creationId xmlns:a16="http://schemas.microsoft.com/office/drawing/2014/main" id="{AFB4A1EF-7F40-4360-BFEE-27223DB03BC0}"/>
              </a:ext>
            </a:extLst>
          </p:cNvPr>
          <p:cNvSpPr>
            <a:spLocks noGrp="1"/>
          </p:cNvSpPr>
          <p:nvPr/>
        </p:nvSpPr>
        <p:spPr>
          <a:xfrm>
            <a:off x="400050" y="5943600"/>
            <a:ext cx="10668000" cy="323850"/>
          </a:xfrm>
          <a:prstGeom prst="rect">
            <a:avLst/>
          </a:prstGeom>
          <a:noFill/>
          <a:ln w="0">
            <a:noFill/>
            <a:prstDash val="solid"/>
          </a:ln>
        </p:spPr>
        <p:txBody>
          <a:bodyPr anchor="t"/>
          <a:lstStyle/>
          <a:p>
            <a:pPr algn="l">
              <a:defRPr sz="1575" b="1">
                <a:solidFill>
                  <a:srgbClr val="C84630"/>
                </a:solidFill>
                <a:latin typeface="Arial"/>
                <a:ea typeface="Arial"/>
                <a:cs typeface="Arial"/>
              </a:defRPr>
            </a:pPr>
            <a:r>
              <a:rPr sz="1575" b="1">
                <a:solidFill>
                  <a:srgbClr val="C84630"/>
                </a:solidFill>
                <a:latin typeface="Arial"/>
                <a:ea typeface="Arial"/>
                <a:cs typeface="Arial"/>
              </a:rPr>
              <a:t>Association, not causation: exposure and cognition were measured at the same visit.</a:t>
            </a:r>
          </a:p>
        </p:txBody>
      </p:sp>
    </p:spTree>
    <p:extLst>
      <p:ext uri="{BB962C8B-B14F-4D97-AF65-F5344CB8AC3E}">
        <p14:creationId xmlns:p14="http://schemas.microsoft.com/office/powerpoint/2010/main" val="1938333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5-title">
            <a:extLst>
              <a:ext uri="{FF2B5EF4-FFF2-40B4-BE49-F238E27FC236}">
                <a16:creationId xmlns:a16="http://schemas.microsoft.com/office/drawing/2014/main" id="{0B12C677-21D9-4B3A-97DD-49B3AEC73199}"/>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Processing speed declined as Boustani burden increased</a:t>
            </a:r>
          </a:p>
        </p:txBody>
      </p:sp>
      <p:sp>
        <p:nvSpPr>
          <p:cNvPr id="2" name="slide-5-eyebrow">
            <a:extLst>
              <a:ext uri="{FF2B5EF4-FFF2-40B4-BE49-F238E27FC236}">
                <a16:creationId xmlns:a16="http://schemas.microsoft.com/office/drawing/2014/main" id="{5D5491DE-44B6-4256-A854-E0ED5EC2957E}"/>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UNADJUSTED RESULTS</a:t>
            </a:r>
          </a:p>
        </p:txBody>
      </p:sp>
      <p:sp>
        <p:nvSpPr>
          <p:cNvPr id="3" name="slide-5-number">
            <a:extLst>
              <a:ext uri="{FF2B5EF4-FFF2-40B4-BE49-F238E27FC236}">
                <a16:creationId xmlns:a16="http://schemas.microsoft.com/office/drawing/2014/main" id="{7C59294D-FEF1-408A-B9DA-BB9D147D3E50}"/>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5</a:t>
            </a:r>
          </a:p>
        </p:txBody>
      </p:sp>
      <p:graphicFrame>
        <p:nvGraphicFramePr>
          <p:cNvPr id="15" name="Chart"/>
          <p:cNvGraphicFramePr/>
          <p:nvPr/>
        </p:nvGraphicFramePr>
        <p:xfrm>
          <a:off x="400050" y="1200150"/>
          <a:ext cx="7143750" cy="4857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B9CDF7AF-5079-4B50-9CB7-5FC66197EC43}"/>
              </a:ext>
            </a:extLst>
          </p:cNvPr>
          <p:cNvSpPr>
            <a:spLocks noGrp="1"/>
          </p:cNvSpPr>
          <p:nvPr/>
        </p:nvSpPr>
        <p:spPr>
          <a:xfrm>
            <a:off x="8001000" y="1447800"/>
            <a:ext cx="3429000" cy="1752600"/>
          </a:xfrm>
          <a:prstGeom prst="rect">
            <a:avLst/>
          </a:prstGeom>
          <a:solidFill>
            <a:srgbClr val="EAF5FB"/>
          </a:solidFill>
          <a:ln w="0">
            <a:noFill/>
            <a:prstDash val="solid"/>
          </a:ln>
        </p:spPr>
      </p:sp>
      <p:sp>
        <p:nvSpPr>
          <p:cNvPr id="6" name="Rectangle 5">
            <a:extLst>
              <a:ext uri="{FF2B5EF4-FFF2-40B4-BE49-F238E27FC236}">
                <a16:creationId xmlns:a16="http://schemas.microsoft.com/office/drawing/2014/main" id="{53AC0C62-D226-4DE0-AD62-879DEF84F356}"/>
              </a:ext>
            </a:extLst>
          </p:cNvPr>
          <p:cNvSpPr>
            <a:spLocks noGrp="1"/>
          </p:cNvSpPr>
          <p:nvPr/>
        </p:nvSpPr>
        <p:spPr>
          <a:xfrm>
            <a:off x="8286750" y="1752600"/>
            <a:ext cx="2857500" cy="609600"/>
          </a:xfrm>
          <a:prstGeom prst="rect">
            <a:avLst/>
          </a:prstGeom>
          <a:noFill/>
          <a:ln w="0">
            <a:noFill/>
            <a:prstDash val="solid"/>
          </a:ln>
        </p:spPr>
        <p:txBody>
          <a:bodyPr anchor="t"/>
          <a:lstStyle/>
          <a:p>
            <a:pPr algn="l">
              <a:defRPr sz="3375" b="1">
                <a:solidFill>
                  <a:srgbClr val="24597F"/>
                </a:solidFill>
                <a:latin typeface="Arial"/>
                <a:ea typeface="Arial"/>
                <a:cs typeface="Arial"/>
              </a:defRPr>
            </a:pPr>
            <a:r>
              <a:rPr sz="3375" b="1">
                <a:solidFill>
                  <a:srgbClr val="24597F"/>
                </a:solidFill>
                <a:latin typeface="Arial"/>
                <a:ea typeface="Arial"/>
                <a:cs typeface="Arial"/>
              </a:rPr>
              <a:t>8.8 points</a:t>
            </a:r>
          </a:p>
        </p:txBody>
      </p:sp>
      <p:sp>
        <p:nvSpPr>
          <p:cNvPr id="7" name="Rectangle 6">
            <a:extLst>
              <a:ext uri="{FF2B5EF4-FFF2-40B4-BE49-F238E27FC236}">
                <a16:creationId xmlns:a16="http://schemas.microsoft.com/office/drawing/2014/main" id="{E44DBE08-F6E8-4418-94CE-6049C9EAAAAF}"/>
              </a:ext>
            </a:extLst>
          </p:cNvPr>
          <p:cNvSpPr>
            <a:spLocks noGrp="1"/>
          </p:cNvSpPr>
          <p:nvPr/>
        </p:nvSpPr>
        <p:spPr>
          <a:xfrm>
            <a:off x="8286750" y="2457450"/>
            <a:ext cx="2857500" cy="571500"/>
          </a:xfrm>
          <a:prstGeom prst="rect">
            <a:avLst/>
          </a:prstGeom>
          <a:noFill/>
          <a:ln w="0">
            <a:noFill/>
            <a:prstDash val="solid"/>
          </a:ln>
        </p:spPr>
        <p:txBody>
          <a:bodyPr anchor="t"/>
          <a:lstStyle/>
          <a:p>
            <a:pPr algn="l">
              <a:defRPr sz="1500" b="0">
                <a:solidFill>
                  <a:srgbClr val="5D6670"/>
                </a:solidFill>
                <a:latin typeface="Arial"/>
                <a:ea typeface="Arial"/>
                <a:cs typeface="Arial"/>
              </a:defRPr>
            </a:pPr>
            <a:r>
              <a:rPr sz="1500" b="0">
                <a:solidFill>
                  <a:srgbClr val="5D6670"/>
                </a:solidFill>
                <a:latin typeface="Arial"/>
                <a:ea typeface="Arial"/>
                <a:cs typeface="Arial"/>
              </a:rPr>
              <a:t>lower DSST at ACB 3+</a:t>
            </a:r>
          </a:p>
          <a:p>
            <a:pPr algn="l">
              <a:defRPr sz="1500" b="0">
                <a:solidFill>
                  <a:srgbClr val="5D6670"/>
                </a:solidFill>
                <a:latin typeface="Arial"/>
                <a:ea typeface="Arial"/>
                <a:cs typeface="Arial"/>
              </a:defRPr>
            </a:pPr>
            <a:r>
              <a:rPr sz="1500" b="0">
                <a:solidFill>
                  <a:srgbClr val="5D6670"/>
                </a:solidFill>
                <a:latin typeface="Arial"/>
                <a:ea typeface="Arial"/>
                <a:cs typeface="Arial"/>
              </a:rPr>
              <a:t>than at ACB 0</a:t>
            </a:r>
          </a:p>
        </p:txBody>
      </p:sp>
      <p:sp>
        <p:nvSpPr>
          <p:cNvPr id="8" name="Rectangle 7">
            <a:extLst>
              <a:ext uri="{FF2B5EF4-FFF2-40B4-BE49-F238E27FC236}">
                <a16:creationId xmlns:a16="http://schemas.microsoft.com/office/drawing/2014/main" id="{FE8A2F49-1F2B-4224-819D-087612CF280A}"/>
              </a:ext>
            </a:extLst>
          </p:cNvPr>
          <p:cNvSpPr>
            <a:spLocks noGrp="1"/>
          </p:cNvSpPr>
          <p:nvPr/>
        </p:nvSpPr>
        <p:spPr>
          <a:xfrm>
            <a:off x="8001000" y="3467100"/>
            <a:ext cx="3429000" cy="1752600"/>
          </a:xfrm>
          <a:prstGeom prst="rect">
            <a:avLst/>
          </a:prstGeom>
          <a:solidFill>
            <a:srgbClr val="F6F7F8"/>
          </a:solidFill>
          <a:ln w="0">
            <a:noFill/>
            <a:prstDash val="solid"/>
          </a:ln>
        </p:spPr>
      </p:sp>
      <p:sp>
        <p:nvSpPr>
          <p:cNvPr id="9" name="Rectangle 8">
            <a:extLst>
              <a:ext uri="{FF2B5EF4-FFF2-40B4-BE49-F238E27FC236}">
                <a16:creationId xmlns:a16="http://schemas.microsoft.com/office/drawing/2014/main" id="{0111A09C-C9E0-4AD8-97C0-9628EEA0F18E}"/>
              </a:ext>
            </a:extLst>
          </p:cNvPr>
          <p:cNvSpPr>
            <a:spLocks noGrp="1"/>
          </p:cNvSpPr>
          <p:nvPr/>
        </p:nvSpPr>
        <p:spPr>
          <a:xfrm>
            <a:off x="8286750" y="3771900"/>
            <a:ext cx="2857500" cy="609600"/>
          </a:xfrm>
          <a:prstGeom prst="rect">
            <a:avLst/>
          </a:prstGeom>
          <a:noFill/>
          <a:ln w="0">
            <a:noFill/>
            <a:prstDash val="solid"/>
          </a:ln>
        </p:spPr>
        <p:txBody>
          <a:bodyPr anchor="t"/>
          <a:lstStyle/>
          <a:p>
            <a:pPr algn="l">
              <a:defRPr sz="3225" b="1">
                <a:solidFill>
                  <a:srgbClr val="C84630"/>
                </a:solidFill>
                <a:latin typeface="Arial"/>
                <a:ea typeface="Arial"/>
                <a:cs typeface="Arial"/>
              </a:defRPr>
            </a:pPr>
            <a:r>
              <a:rPr sz="3225" b="1">
                <a:solidFill>
                  <a:srgbClr val="C84630"/>
                </a:solidFill>
                <a:latin typeface="Arial"/>
                <a:ea typeface="Arial"/>
                <a:cs typeface="Arial"/>
              </a:rPr>
              <a:t>2.5 → 7.4</a:t>
            </a:r>
          </a:p>
        </p:txBody>
      </p:sp>
      <p:sp>
        <p:nvSpPr>
          <p:cNvPr id="10" name="Rectangle 9">
            <a:extLst>
              <a:ext uri="{FF2B5EF4-FFF2-40B4-BE49-F238E27FC236}">
                <a16:creationId xmlns:a16="http://schemas.microsoft.com/office/drawing/2014/main" id="{6A07F7D9-E7E9-4437-8AB9-EB61E6425C09}"/>
              </a:ext>
            </a:extLst>
          </p:cNvPr>
          <p:cNvSpPr>
            <a:spLocks noGrp="1"/>
          </p:cNvSpPr>
          <p:nvPr/>
        </p:nvSpPr>
        <p:spPr>
          <a:xfrm>
            <a:off x="8286750" y="4476750"/>
            <a:ext cx="2857500" cy="571500"/>
          </a:xfrm>
          <a:prstGeom prst="rect">
            <a:avLst/>
          </a:prstGeom>
          <a:noFill/>
          <a:ln w="0">
            <a:noFill/>
            <a:prstDash val="solid"/>
          </a:ln>
        </p:spPr>
        <p:txBody>
          <a:bodyPr anchor="t"/>
          <a:lstStyle/>
          <a:p>
            <a:pPr algn="l">
              <a:defRPr sz="1500" b="0">
                <a:solidFill>
                  <a:srgbClr val="5D6670"/>
                </a:solidFill>
                <a:latin typeface="Arial"/>
                <a:ea typeface="Arial"/>
                <a:cs typeface="Arial"/>
              </a:defRPr>
            </a:pPr>
            <a:r>
              <a:rPr sz="1500" b="0">
                <a:solidFill>
                  <a:srgbClr val="5D6670"/>
                </a:solidFill>
                <a:latin typeface="Arial"/>
                <a:ea typeface="Arial"/>
                <a:cs typeface="Arial"/>
              </a:rPr>
              <a:t>mean number of medicines</a:t>
            </a:r>
          </a:p>
          <a:p>
            <a:pPr algn="l">
              <a:defRPr sz="1500" b="0">
                <a:solidFill>
                  <a:srgbClr val="5D6670"/>
                </a:solidFill>
                <a:latin typeface="Arial"/>
                <a:ea typeface="Arial"/>
                <a:cs typeface="Arial"/>
              </a:defRPr>
            </a:pPr>
            <a:r>
              <a:rPr sz="1500" b="0">
                <a:solidFill>
                  <a:srgbClr val="5D6670"/>
                </a:solidFill>
                <a:latin typeface="Arial"/>
                <a:ea typeface="Arial"/>
                <a:cs typeface="Arial"/>
              </a:rPr>
              <a:t>across the same categories</a:t>
            </a:r>
          </a:p>
        </p:txBody>
      </p:sp>
      <p:sp>
        <p:nvSpPr>
          <p:cNvPr id="11" name="Rectangle 10">
            <a:extLst>
              <a:ext uri="{FF2B5EF4-FFF2-40B4-BE49-F238E27FC236}">
                <a16:creationId xmlns:a16="http://schemas.microsoft.com/office/drawing/2014/main" id="{B95E99CE-D8C7-477B-ACBD-FD3742A3B80C}"/>
              </a:ext>
            </a:extLst>
          </p:cNvPr>
          <p:cNvSpPr>
            <a:spLocks noGrp="1"/>
          </p:cNvSpPr>
          <p:nvPr/>
        </p:nvSpPr>
        <p:spPr>
          <a:xfrm>
            <a:off x="8001000" y="5505450"/>
            <a:ext cx="3429000" cy="609600"/>
          </a:xfrm>
          <a:prstGeom prst="rect">
            <a:avLst/>
          </a:prstGeom>
          <a:noFill/>
          <a:ln w="0">
            <a:noFill/>
            <a:prstDash val="solid"/>
          </a:ln>
        </p:spPr>
        <p:txBody>
          <a:bodyPr anchor="t"/>
          <a:lstStyle/>
          <a:p>
            <a:pPr algn="l">
              <a:defRPr sz="1350" b="1">
                <a:solidFill>
                  <a:srgbClr val="5D6670"/>
                </a:solidFill>
                <a:latin typeface="Arial"/>
                <a:ea typeface="Arial"/>
                <a:cs typeface="Arial"/>
              </a:defRPr>
            </a:pPr>
            <a:r>
              <a:rPr sz="1350" b="1">
                <a:solidFill>
                  <a:srgbClr val="5D6670"/>
                </a:solidFill>
                <a:latin typeface="Arial"/>
                <a:ea typeface="Arial"/>
                <a:cs typeface="Arial"/>
              </a:rPr>
              <a:t>This gradient could still reflect medication count or health differences — adjustment is essential.</a:t>
            </a:r>
          </a:p>
        </p:txBody>
      </p:sp>
    </p:spTree>
    <p:extLst>
      <p:ext uri="{BB962C8B-B14F-4D97-AF65-F5344CB8AC3E}">
        <p14:creationId xmlns:p14="http://schemas.microsoft.com/office/powerpoint/2010/main" val="1091944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6-title">
            <a:extLst>
              <a:ext uri="{FF2B5EF4-FFF2-40B4-BE49-F238E27FC236}">
                <a16:creationId xmlns:a16="http://schemas.microsoft.com/office/drawing/2014/main" id="{E36274BA-C32D-4542-B2DF-A60881A105F2}"/>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Boustani burden remained associated after adjustment</a:t>
            </a:r>
          </a:p>
        </p:txBody>
      </p:sp>
      <p:sp>
        <p:nvSpPr>
          <p:cNvPr id="2" name="slide-6-eyebrow">
            <a:extLst>
              <a:ext uri="{FF2B5EF4-FFF2-40B4-BE49-F238E27FC236}">
                <a16:creationId xmlns:a16="http://schemas.microsoft.com/office/drawing/2014/main" id="{4B8C0F02-BF8D-490A-BBE3-E07297E1358B}"/>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PRIMARY RESULT</a:t>
            </a:r>
          </a:p>
        </p:txBody>
      </p:sp>
      <p:sp>
        <p:nvSpPr>
          <p:cNvPr id="3" name="slide-6-number">
            <a:extLst>
              <a:ext uri="{FF2B5EF4-FFF2-40B4-BE49-F238E27FC236}">
                <a16:creationId xmlns:a16="http://schemas.microsoft.com/office/drawing/2014/main" id="{A6FC4B77-B00F-4258-868D-8236B0B953DF}"/>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6</a:t>
            </a:r>
          </a:p>
        </p:txBody>
      </p:sp>
      <p:sp>
        <p:nvSpPr>
          <p:cNvPr id="4" name="Rectangle 3">
            <a:extLst>
              <a:ext uri="{FF2B5EF4-FFF2-40B4-BE49-F238E27FC236}">
                <a16:creationId xmlns:a16="http://schemas.microsoft.com/office/drawing/2014/main" id="{495ED008-D728-4A4C-9545-2F526B95E023}"/>
              </a:ext>
            </a:extLst>
          </p:cNvPr>
          <p:cNvSpPr>
            <a:spLocks noGrp="1"/>
          </p:cNvSpPr>
          <p:nvPr/>
        </p:nvSpPr>
        <p:spPr>
          <a:xfrm>
            <a:off x="400050" y="1085850"/>
            <a:ext cx="10858500" cy="36195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Model M4: survey-weighted, including medication count, demographics and socioeconomic factors.</a:t>
            </a:r>
          </a:p>
        </p:txBody>
      </p:sp>
      <p:sp>
        <p:nvSpPr>
          <p:cNvPr id="5" name="Rectangle 4">
            <a:extLst>
              <a:ext uri="{FF2B5EF4-FFF2-40B4-BE49-F238E27FC236}">
                <a16:creationId xmlns:a16="http://schemas.microsoft.com/office/drawing/2014/main" id="{E30D1EBF-2181-4B08-8814-19DE77FD775F}"/>
              </a:ext>
            </a:extLst>
          </p:cNvPr>
          <p:cNvSpPr>
            <a:spLocks noGrp="1"/>
          </p:cNvSpPr>
          <p:nvPr/>
        </p:nvSpPr>
        <p:spPr>
          <a:xfrm>
            <a:off x="400050" y="1866900"/>
            <a:ext cx="3571875" cy="3162300"/>
          </a:xfrm>
          <a:prstGeom prst="rect">
            <a:avLst/>
          </a:prstGeom>
          <a:solidFill>
            <a:srgbClr val="F6F7F8"/>
          </a:solidFill>
          <a:ln w="0">
            <a:noFill/>
            <a:prstDash val="solid"/>
          </a:ln>
        </p:spPr>
      </p:sp>
      <p:sp>
        <p:nvSpPr>
          <p:cNvPr id="6" name="Rectangle 5">
            <a:extLst>
              <a:ext uri="{FF2B5EF4-FFF2-40B4-BE49-F238E27FC236}">
                <a16:creationId xmlns:a16="http://schemas.microsoft.com/office/drawing/2014/main" id="{71F5A928-DFBF-480F-B5B0-F66BF546F0B9}"/>
              </a:ext>
            </a:extLst>
          </p:cNvPr>
          <p:cNvSpPr>
            <a:spLocks noGrp="1"/>
          </p:cNvSpPr>
          <p:nvPr/>
        </p:nvSpPr>
        <p:spPr>
          <a:xfrm>
            <a:off x="685800" y="2247900"/>
            <a:ext cx="3000375" cy="742950"/>
          </a:xfrm>
          <a:prstGeom prst="rect">
            <a:avLst/>
          </a:prstGeom>
          <a:noFill/>
          <a:ln w="0">
            <a:noFill/>
            <a:prstDash val="solid"/>
          </a:ln>
        </p:spPr>
        <p:txBody>
          <a:bodyPr anchor="t"/>
          <a:lstStyle/>
          <a:p>
            <a:pPr algn="l">
              <a:defRPr sz="4350" b="1">
                <a:solidFill>
                  <a:srgbClr val="2D78C8"/>
                </a:solidFill>
                <a:latin typeface="Arial"/>
                <a:ea typeface="Arial"/>
                <a:cs typeface="Arial"/>
              </a:defRPr>
            </a:pPr>
            <a:r>
              <a:rPr sz="4350" b="1">
                <a:solidFill>
                  <a:srgbClr val="2D78C8"/>
                </a:solidFill>
                <a:latin typeface="Arial"/>
                <a:ea typeface="Arial"/>
                <a:cs typeface="Arial"/>
              </a:rPr>
              <a:t>−1.36</a:t>
            </a:r>
          </a:p>
        </p:txBody>
      </p:sp>
      <p:sp>
        <p:nvSpPr>
          <p:cNvPr id="7" name="Rectangle 6">
            <a:extLst>
              <a:ext uri="{FF2B5EF4-FFF2-40B4-BE49-F238E27FC236}">
                <a16:creationId xmlns:a16="http://schemas.microsoft.com/office/drawing/2014/main" id="{EC1021AD-4B6C-4E97-B3B7-7569FE83CC15}"/>
              </a:ext>
            </a:extLst>
          </p:cNvPr>
          <p:cNvSpPr>
            <a:spLocks noGrp="1"/>
          </p:cNvSpPr>
          <p:nvPr/>
        </p:nvSpPr>
        <p:spPr>
          <a:xfrm>
            <a:off x="685800" y="3105150"/>
            <a:ext cx="3000375" cy="7429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DSST points per</a:t>
            </a:r>
          </a:p>
          <a:p>
            <a:pPr algn="l">
              <a:defRPr sz="1875" b="1">
                <a:solidFill>
                  <a:srgbClr val="111111"/>
                </a:solidFill>
                <a:latin typeface="Arial"/>
                <a:ea typeface="Arial"/>
                <a:cs typeface="Arial"/>
              </a:defRPr>
            </a:pPr>
            <a:r>
              <a:rPr sz="1875" b="1">
                <a:solidFill>
                  <a:srgbClr val="111111"/>
                </a:solidFill>
                <a:latin typeface="Arial"/>
                <a:ea typeface="Arial"/>
                <a:cs typeface="Arial"/>
              </a:rPr>
              <a:t>ACB unit</a:t>
            </a:r>
          </a:p>
        </p:txBody>
      </p:sp>
      <p:sp>
        <p:nvSpPr>
          <p:cNvPr id="8" name="Straight Connector 7">
            <a:extLst>
              <a:ext uri="{FF2B5EF4-FFF2-40B4-BE49-F238E27FC236}">
                <a16:creationId xmlns:a16="http://schemas.microsoft.com/office/drawing/2014/main" id="{330D4433-21A4-4F99-9005-3DD795290492}"/>
              </a:ext>
            </a:extLst>
          </p:cNvPr>
          <p:cNvSpPr>
            <a:spLocks noGrp="1"/>
          </p:cNvSpPr>
          <p:nvPr/>
        </p:nvSpPr>
        <p:spPr>
          <a:xfrm>
            <a:off x="685800" y="4000500"/>
            <a:ext cx="1524000" cy="0"/>
          </a:xfrm>
          <a:prstGeom prst="line">
            <a:avLst/>
          </a:prstGeom>
          <a:noFill/>
          <a:ln w="19050">
            <a:solidFill>
              <a:srgbClr val="B8BCC4"/>
            </a:solidFill>
            <a:prstDash val="solid"/>
          </a:ln>
        </p:spPr>
      </p:sp>
      <p:sp>
        <p:nvSpPr>
          <p:cNvPr id="9" name="Rectangle 8">
            <a:extLst>
              <a:ext uri="{FF2B5EF4-FFF2-40B4-BE49-F238E27FC236}">
                <a16:creationId xmlns:a16="http://schemas.microsoft.com/office/drawing/2014/main" id="{D6D76DAF-80F4-437F-8085-EFD2D8611D20}"/>
              </a:ext>
            </a:extLst>
          </p:cNvPr>
          <p:cNvSpPr>
            <a:spLocks noGrp="1"/>
          </p:cNvSpPr>
          <p:nvPr/>
        </p:nvSpPr>
        <p:spPr>
          <a:xfrm>
            <a:off x="685800" y="4229100"/>
            <a:ext cx="3000375" cy="59055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95% CI −1.98 to −0.74</a:t>
            </a:r>
          </a:p>
          <a:p>
            <a:pPr algn="l">
              <a:defRPr sz="1350" b="0">
                <a:solidFill>
                  <a:srgbClr val="5D6670"/>
                </a:solidFill>
                <a:latin typeface="Arial"/>
                <a:ea typeface="Arial"/>
                <a:cs typeface="Arial"/>
              </a:defRPr>
            </a:pPr>
            <a:r>
              <a:rPr sz="1350" b="0">
                <a:solidFill>
                  <a:srgbClr val="5D6670"/>
                </a:solidFill>
                <a:latin typeface="Arial"/>
                <a:ea typeface="Arial"/>
                <a:cs typeface="Arial"/>
              </a:rPr>
              <a:t>p&lt;0.001</a:t>
            </a:r>
          </a:p>
        </p:txBody>
      </p:sp>
      <p:sp>
        <p:nvSpPr>
          <p:cNvPr id="10" name="Rectangle 9">
            <a:extLst>
              <a:ext uri="{FF2B5EF4-FFF2-40B4-BE49-F238E27FC236}">
                <a16:creationId xmlns:a16="http://schemas.microsoft.com/office/drawing/2014/main" id="{2E0270E6-376F-4A5F-B477-EC5861642BB5}"/>
              </a:ext>
            </a:extLst>
          </p:cNvPr>
          <p:cNvSpPr>
            <a:spLocks noGrp="1"/>
          </p:cNvSpPr>
          <p:nvPr/>
        </p:nvSpPr>
        <p:spPr>
          <a:xfrm>
            <a:off x="4314825" y="1866900"/>
            <a:ext cx="3571875" cy="3162300"/>
          </a:xfrm>
          <a:prstGeom prst="rect">
            <a:avLst/>
          </a:prstGeom>
          <a:solidFill>
            <a:srgbClr val="F6F7F8"/>
          </a:solidFill>
          <a:ln w="0">
            <a:noFill/>
            <a:prstDash val="solid"/>
          </a:ln>
        </p:spPr>
      </p:sp>
      <p:sp>
        <p:nvSpPr>
          <p:cNvPr id="11" name="Rectangle 10">
            <a:extLst>
              <a:ext uri="{FF2B5EF4-FFF2-40B4-BE49-F238E27FC236}">
                <a16:creationId xmlns:a16="http://schemas.microsoft.com/office/drawing/2014/main" id="{ED488695-C5CC-4ABC-A82D-01014F9452A7}"/>
              </a:ext>
            </a:extLst>
          </p:cNvPr>
          <p:cNvSpPr>
            <a:spLocks noGrp="1"/>
          </p:cNvSpPr>
          <p:nvPr/>
        </p:nvSpPr>
        <p:spPr>
          <a:xfrm>
            <a:off x="4600575" y="2247900"/>
            <a:ext cx="3000375" cy="742950"/>
          </a:xfrm>
          <a:prstGeom prst="rect">
            <a:avLst/>
          </a:prstGeom>
          <a:noFill/>
          <a:ln w="0">
            <a:noFill/>
            <a:prstDash val="solid"/>
          </a:ln>
        </p:spPr>
        <p:txBody>
          <a:bodyPr anchor="t"/>
          <a:lstStyle/>
          <a:p>
            <a:pPr algn="l">
              <a:defRPr sz="4350" b="1">
                <a:solidFill>
                  <a:srgbClr val="2D78C8"/>
                </a:solidFill>
                <a:latin typeface="Arial"/>
                <a:ea typeface="Arial"/>
                <a:cs typeface="Arial"/>
              </a:defRPr>
            </a:pPr>
            <a:r>
              <a:rPr sz="4350" b="1">
                <a:solidFill>
                  <a:srgbClr val="2D78C8"/>
                </a:solidFill>
                <a:latin typeface="Arial"/>
                <a:ea typeface="Arial"/>
                <a:cs typeface="Arial"/>
              </a:rPr>
              <a:t>−5.58</a:t>
            </a:r>
          </a:p>
        </p:txBody>
      </p:sp>
      <p:sp>
        <p:nvSpPr>
          <p:cNvPr id="12" name="Rectangle 11">
            <a:extLst>
              <a:ext uri="{FF2B5EF4-FFF2-40B4-BE49-F238E27FC236}">
                <a16:creationId xmlns:a16="http://schemas.microsoft.com/office/drawing/2014/main" id="{BB432D9A-754C-4FCB-BFCA-9FE634BA2D3F}"/>
              </a:ext>
            </a:extLst>
          </p:cNvPr>
          <p:cNvSpPr>
            <a:spLocks noGrp="1"/>
          </p:cNvSpPr>
          <p:nvPr/>
        </p:nvSpPr>
        <p:spPr>
          <a:xfrm>
            <a:off x="4600575" y="3105150"/>
            <a:ext cx="3000375" cy="7429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DSST points at</a:t>
            </a:r>
          </a:p>
          <a:p>
            <a:pPr algn="l">
              <a:defRPr sz="1875" b="1">
                <a:solidFill>
                  <a:srgbClr val="111111"/>
                </a:solidFill>
                <a:latin typeface="Arial"/>
                <a:ea typeface="Arial"/>
                <a:cs typeface="Arial"/>
              </a:defRPr>
            </a:pPr>
            <a:r>
              <a:rPr sz="1875" b="1">
                <a:solidFill>
                  <a:srgbClr val="111111"/>
                </a:solidFill>
                <a:latin typeface="Arial"/>
                <a:ea typeface="Arial"/>
                <a:cs typeface="Arial"/>
              </a:rPr>
              <a:t>ACB 3+ vs 0</a:t>
            </a:r>
          </a:p>
        </p:txBody>
      </p:sp>
      <p:sp>
        <p:nvSpPr>
          <p:cNvPr id="13" name="Straight Connector 12">
            <a:extLst>
              <a:ext uri="{FF2B5EF4-FFF2-40B4-BE49-F238E27FC236}">
                <a16:creationId xmlns:a16="http://schemas.microsoft.com/office/drawing/2014/main" id="{366F270C-A018-4A07-9F73-90A1CD41F4CF}"/>
              </a:ext>
            </a:extLst>
          </p:cNvPr>
          <p:cNvSpPr>
            <a:spLocks noGrp="1"/>
          </p:cNvSpPr>
          <p:nvPr/>
        </p:nvSpPr>
        <p:spPr>
          <a:xfrm>
            <a:off x="4600575" y="4000500"/>
            <a:ext cx="1524000" cy="0"/>
          </a:xfrm>
          <a:prstGeom prst="line">
            <a:avLst/>
          </a:prstGeom>
          <a:noFill/>
          <a:ln w="19050">
            <a:solidFill>
              <a:srgbClr val="B8BCC4"/>
            </a:solidFill>
            <a:prstDash val="solid"/>
          </a:ln>
        </p:spPr>
      </p:sp>
      <p:sp>
        <p:nvSpPr>
          <p:cNvPr id="14" name="Rectangle 13">
            <a:extLst>
              <a:ext uri="{FF2B5EF4-FFF2-40B4-BE49-F238E27FC236}">
                <a16:creationId xmlns:a16="http://schemas.microsoft.com/office/drawing/2014/main" id="{223DF36A-733D-45D0-B9F3-2B9D2C6D54C8}"/>
              </a:ext>
            </a:extLst>
          </p:cNvPr>
          <p:cNvSpPr>
            <a:spLocks noGrp="1"/>
          </p:cNvSpPr>
          <p:nvPr/>
        </p:nvSpPr>
        <p:spPr>
          <a:xfrm>
            <a:off x="4600575" y="4229100"/>
            <a:ext cx="3000375" cy="59055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95% CI −8.00 to −3.17</a:t>
            </a:r>
          </a:p>
          <a:p>
            <a:pPr algn="l">
              <a:defRPr sz="1350" b="0">
                <a:solidFill>
                  <a:srgbClr val="5D6670"/>
                </a:solidFill>
                <a:latin typeface="Arial"/>
                <a:ea typeface="Arial"/>
                <a:cs typeface="Arial"/>
              </a:defRPr>
            </a:pPr>
            <a:r>
              <a:rPr sz="1350" b="0">
                <a:solidFill>
                  <a:srgbClr val="5D6670"/>
                </a:solidFill>
                <a:latin typeface="Arial"/>
                <a:ea typeface="Arial"/>
                <a:cs typeface="Arial"/>
              </a:rPr>
              <a:t>p&lt;0.001</a:t>
            </a:r>
          </a:p>
        </p:txBody>
      </p:sp>
      <p:sp>
        <p:nvSpPr>
          <p:cNvPr id="15" name="Rectangle 14">
            <a:extLst>
              <a:ext uri="{FF2B5EF4-FFF2-40B4-BE49-F238E27FC236}">
                <a16:creationId xmlns:a16="http://schemas.microsoft.com/office/drawing/2014/main" id="{F41DB058-DDE8-440B-9289-A7EAFA9E10D5}"/>
              </a:ext>
            </a:extLst>
          </p:cNvPr>
          <p:cNvSpPr>
            <a:spLocks noGrp="1"/>
          </p:cNvSpPr>
          <p:nvPr/>
        </p:nvSpPr>
        <p:spPr>
          <a:xfrm>
            <a:off x="8229600" y="1866900"/>
            <a:ext cx="3571875" cy="3162300"/>
          </a:xfrm>
          <a:prstGeom prst="rect">
            <a:avLst/>
          </a:prstGeom>
          <a:solidFill>
            <a:srgbClr val="EAF5FB"/>
          </a:solidFill>
          <a:ln w="0">
            <a:noFill/>
            <a:prstDash val="solid"/>
          </a:ln>
        </p:spPr>
      </p:sp>
      <p:sp>
        <p:nvSpPr>
          <p:cNvPr id="16" name="Rectangle 15">
            <a:extLst>
              <a:ext uri="{FF2B5EF4-FFF2-40B4-BE49-F238E27FC236}">
                <a16:creationId xmlns:a16="http://schemas.microsoft.com/office/drawing/2014/main" id="{A35A7707-5D19-4B34-8018-5E9AC0F90325}"/>
              </a:ext>
            </a:extLst>
          </p:cNvPr>
          <p:cNvSpPr>
            <a:spLocks noGrp="1"/>
          </p:cNvSpPr>
          <p:nvPr/>
        </p:nvSpPr>
        <p:spPr>
          <a:xfrm>
            <a:off x="8515350" y="2247900"/>
            <a:ext cx="3000375" cy="742950"/>
          </a:xfrm>
          <a:prstGeom prst="rect">
            <a:avLst/>
          </a:prstGeom>
          <a:noFill/>
          <a:ln w="0">
            <a:noFill/>
            <a:prstDash val="solid"/>
          </a:ln>
        </p:spPr>
        <p:txBody>
          <a:bodyPr anchor="t"/>
          <a:lstStyle/>
          <a:p>
            <a:pPr algn="l">
              <a:defRPr sz="4350" b="1">
                <a:solidFill>
                  <a:srgbClr val="24597F"/>
                </a:solidFill>
                <a:latin typeface="Arial"/>
                <a:ea typeface="Arial"/>
                <a:cs typeface="Arial"/>
              </a:defRPr>
            </a:pPr>
            <a:r>
              <a:rPr sz="4350" b="1">
                <a:solidFill>
                  <a:srgbClr val="24597F"/>
                </a:solidFill>
                <a:latin typeface="Arial"/>
                <a:ea typeface="Arial"/>
                <a:cs typeface="Arial"/>
              </a:rPr>
              <a:t>−1.35</a:t>
            </a:r>
          </a:p>
        </p:txBody>
      </p:sp>
      <p:sp>
        <p:nvSpPr>
          <p:cNvPr id="17" name="Rectangle 16">
            <a:extLst>
              <a:ext uri="{FF2B5EF4-FFF2-40B4-BE49-F238E27FC236}">
                <a16:creationId xmlns:a16="http://schemas.microsoft.com/office/drawing/2014/main" id="{B235F3B1-2ED6-414E-956F-873331D00E63}"/>
              </a:ext>
            </a:extLst>
          </p:cNvPr>
          <p:cNvSpPr>
            <a:spLocks noGrp="1"/>
          </p:cNvSpPr>
          <p:nvPr/>
        </p:nvSpPr>
        <p:spPr>
          <a:xfrm>
            <a:off x="8515350" y="3105150"/>
            <a:ext cx="3000375" cy="7429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after adding</a:t>
            </a:r>
          </a:p>
          <a:p>
            <a:pPr algn="l">
              <a:defRPr sz="1875" b="1">
                <a:solidFill>
                  <a:srgbClr val="111111"/>
                </a:solidFill>
                <a:latin typeface="Arial"/>
                <a:ea typeface="Arial"/>
                <a:cs typeface="Arial"/>
              </a:defRPr>
            </a:pPr>
            <a:r>
              <a:rPr sz="1875" b="1">
                <a:solidFill>
                  <a:srgbClr val="111111"/>
                </a:solidFill>
                <a:latin typeface="Arial"/>
                <a:ea typeface="Arial"/>
                <a:cs typeface="Arial"/>
              </a:rPr>
              <a:t>comorbidities (M4+)</a:t>
            </a:r>
          </a:p>
        </p:txBody>
      </p:sp>
      <p:sp>
        <p:nvSpPr>
          <p:cNvPr id="18" name="Straight Connector 17">
            <a:extLst>
              <a:ext uri="{FF2B5EF4-FFF2-40B4-BE49-F238E27FC236}">
                <a16:creationId xmlns:a16="http://schemas.microsoft.com/office/drawing/2014/main" id="{72AAF00A-8EF4-4B19-BE73-7AF6DD1AC53E}"/>
              </a:ext>
            </a:extLst>
          </p:cNvPr>
          <p:cNvSpPr>
            <a:spLocks noGrp="1"/>
          </p:cNvSpPr>
          <p:nvPr/>
        </p:nvSpPr>
        <p:spPr>
          <a:xfrm>
            <a:off x="8515350" y="4000500"/>
            <a:ext cx="1524000" cy="0"/>
          </a:xfrm>
          <a:prstGeom prst="line">
            <a:avLst/>
          </a:prstGeom>
          <a:noFill/>
          <a:ln w="19050">
            <a:solidFill>
              <a:srgbClr val="24597F"/>
            </a:solidFill>
            <a:prstDash val="solid"/>
          </a:ln>
        </p:spPr>
      </p:sp>
      <p:sp>
        <p:nvSpPr>
          <p:cNvPr id="19" name="Rectangle 18">
            <a:extLst>
              <a:ext uri="{FF2B5EF4-FFF2-40B4-BE49-F238E27FC236}">
                <a16:creationId xmlns:a16="http://schemas.microsoft.com/office/drawing/2014/main" id="{1C083C1B-B67E-4C95-83A7-DBD5383213CE}"/>
              </a:ext>
            </a:extLst>
          </p:cNvPr>
          <p:cNvSpPr>
            <a:spLocks noGrp="1"/>
          </p:cNvSpPr>
          <p:nvPr/>
        </p:nvSpPr>
        <p:spPr>
          <a:xfrm>
            <a:off x="8515350" y="4229100"/>
            <a:ext cx="3000375" cy="590550"/>
          </a:xfrm>
          <a:prstGeom prst="rect">
            <a:avLst/>
          </a:prstGeom>
          <a:noFill/>
          <a:ln w="0">
            <a:noFill/>
            <a:prstDash val="solid"/>
          </a:ln>
        </p:spPr>
        <p:txBody>
          <a:bodyPr anchor="t"/>
          <a:lstStyle/>
          <a:p>
            <a:pPr algn="l">
              <a:defRPr sz="1350" b="0">
                <a:solidFill>
                  <a:srgbClr val="5D6670"/>
                </a:solidFill>
                <a:latin typeface="Arial"/>
                <a:ea typeface="Arial"/>
                <a:cs typeface="Arial"/>
              </a:defRPr>
            </a:pPr>
            <a:r>
              <a:rPr sz="1350" b="0">
                <a:solidFill>
                  <a:srgbClr val="5D6670"/>
                </a:solidFill>
                <a:latin typeface="Arial"/>
                <a:ea typeface="Arial"/>
                <a:cs typeface="Arial"/>
              </a:rPr>
              <a:t>Medication count: p=0.066</a:t>
            </a:r>
          </a:p>
          <a:p>
            <a:pPr algn="l">
              <a:defRPr sz="1350" b="0">
                <a:solidFill>
                  <a:srgbClr val="5D6670"/>
                </a:solidFill>
                <a:latin typeface="Arial"/>
                <a:ea typeface="Arial"/>
                <a:cs typeface="Arial"/>
              </a:defRPr>
            </a:pPr>
            <a:r>
              <a:rPr sz="1350" b="0">
                <a:solidFill>
                  <a:srgbClr val="5D6670"/>
                </a:solidFill>
                <a:latin typeface="Arial"/>
                <a:ea typeface="Arial"/>
                <a:cs typeface="Arial"/>
              </a:rPr>
              <a:t>Burden: p&lt;0.001</a:t>
            </a:r>
          </a:p>
        </p:txBody>
      </p:sp>
      <p:sp>
        <p:nvSpPr>
          <p:cNvPr id="20" name="Rectangle 19">
            <a:extLst>
              <a:ext uri="{FF2B5EF4-FFF2-40B4-BE49-F238E27FC236}">
                <a16:creationId xmlns:a16="http://schemas.microsoft.com/office/drawing/2014/main" id="{3EAAB00D-7960-477B-9E27-AB97700A5B8F}"/>
              </a:ext>
            </a:extLst>
          </p:cNvPr>
          <p:cNvSpPr>
            <a:spLocks noGrp="1"/>
          </p:cNvSpPr>
          <p:nvPr/>
        </p:nvSpPr>
        <p:spPr>
          <a:xfrm>
            <a:off x="400050" y="5448300"/>
            <a:ext cx="10858500" cy="400050"/>
          </a:xfrm>
          <a:prstGeom prst="rect">
            <a:avLst/>
          </a:prstGeom>
          <a:noFill/>
          <a:ln w="0">
            <a:noFill/>
            <a:prstDash val="solid"/>
          </a:ln>
        </p:spPr>
        <p:txBody>
          <a:bodyPr anchor="t"/>
          <a:lstStyle/>
          <a:p>
            <a:pPr algn="l">
              <a:defRPr sz="1800" b="1">
                <a:solidFill>
                  <a:srgbClr val="277A64"/>
                </a:solidFill>
                <a:latin typeface="Arial"/>
                <a:ea typeface="Arial"/>
                <a:cs typeface="Arial"/>
              </a:defRPr>
            </a:pPr>
            <a:r>
              <a:rPr sz="1650" b="1">
                <a:solidFill>
                  <a:srgbClr val="277A64"/>
                </a:solidFill>
                <a:latin typeface="Arial"/>
                <a:ea typeface="Arial"/>
                <a:cs typeface="Arial"/>
              </a:rPr>
              <a:t>Sensitivity checks were similar: IPW (inverse-probability weighting) −1.31; prior-stroke exclusion −1.20.</a:t>
            </a:r>
          </a:p>
        </p:txBody>
      </p:sp>
      <p:sp>
        <p:nvSpPr>
          <p:cNvPr id="21" name="Rectangle 20">
            <a:extLst>
              <a:ext uri="{FF2B5EF4-FFF2-40B4-BE49-F238E27FC236}">
                <a16:creationId xmlns:a16="http://schemas.microsoft.com/office/drawing/2014/main" id="{9D988528-E987-4AFB-B502-A6BA0892559A}"/>
              </a:ext>
            </a:extLst>
          </p:cNvPr>
          <p:cNvSpPr>
            <a:spLocks noGrp="1"/>
          </p:cNvSpPr>
          <p:nvPr/>
        </p:nvSpPr>
        <p:spPr>
          <a:xfrm>
            <a:off x="400050" y="5943600"/>
            <a:ext cx="10858500" cy="304800"/>
          </a:xfrm>
          <a:prstGeom prst="rect">
            <a:avLst/>
          </a:prstGeom>
          <a:noFill/>
          <a:ln w="0">
            <a:noFill/>
            <a:prstDash val="solid"/>
          </a:ln>
        </p:spPr>
        <p:txBody>
          <a:bodyPr anchor="t"/>
          <a:lstStyle/>
          <a:p>
            <a:pPr algn="l">
              <a:defRPr sz="1275" b="0">
                <a:solidFill>
                  <a:srgbClr val="C84630"/>
                </a:solidFill>
                <a:latin typeface="Arial"/>
                <a:ea typeface="Arial"/>
                <a:cs typeface="Arial"/>
              </a:defRPr>
            </a:pPr>
            <a:r>
              <a:rPr sz="1275" b="0">
                <a:solidFill>
                  <a:srgbClr val="C84630"/>
                </a:solidFill>
                <a:latin typeface="Arial"/>
                <a:ea typeface="Arial"/>
                <a:cs typeface="Arial"/>
              </a:rPr>
              <a:t>Coefficient comparisons describe modelled associations — not biological ageing or treatment effects.</a:t>
            </a:r>
          </a:p>
        </p:txBody>
      </p:sp>
    </p:spTree>
    <p:extLst>
      <p:ext uri="{BB962C8B-B14F-4D97-AF65-F5344CB8AC3E}">
        <p14:creationId xmlns:p14="http://schemas.microsoft.com/office/powerpoint/2010/main" val="1426042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7-title">
            <a:extLst>
              <a:ext uri="{FF2B5EF4-FFF2-40B4-BE49-F238E27FC236}">
                <a16:creationId xmlns:a16="http://schemas.microsoft.com/office/drawing/2014/main" id="{5E6B9F3B-7B2A-4A9A-AADC-CD0096997E27}"/>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Changing the burden scale changed the central answer</a:t>
            </a:r>
          </a:p>
        </p:txBody>
      </p:sp>
      <p:sp>
        <p:nvSpPr>
          <p:cNvPr id="2" name="slide-7-eyebrow">
            <a:extLst>
              <a:ext uri="{FF2B5EF4-FFF2-40B4-BE49-F238E27FC236}">
                <a16:creationId xmlns:a16="http://schemas.microsoft.com/office/drawing/2014/main" id="{D60DE6C4-780C-40B6-84B8-20A5919D7AE1}"/>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SCALE SENSITIVITY</a:t>
            </a:r>
          </a:p>
        </p:txBody>
      </p:sp>
      <p:sp>
        <p:nvSpPr>
          <p:cNvPr id="3" name="slide-7-number">
            <a:extLst>
              <a:ext uri="{FF2B5EF4-FFF2-40B4-BE49-F238E27FC236}">
                <a16:creationId xmlns:a16="http://schemas.microsoft.com/office/drawing/2014/main" id="{1C5E0970-7980-4DFB-9CE8-F7C7FE4AE25E}"/>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7</a:t>
            </a:r>
          </a:p>
        </p:txBody>
      </p:sp>
      <p:pic>
        <p:nvPicPr>
          <p:cNvPr id="17" name="Picture 16"/>
          <p:cNvPicPr>
            <a:picLocks noChangeAspect="1"/>
          </p:cNvPicPr>
          <p:nvPr/>
        </p:nvPicPr>
        <p:blipFill>
          <a:blip r:embed="rId3"/>
          <a:stretch/>
        </p:blipFill>
        <p:spPr>
          <a:xfrm>
            <a:off x="457200" y="1069848"/>
            <a:ext cx="7388352" cy="5120640"/>
          </a:xfrm>
          <a:prstGeom prst="rect">
            <a:avLst/>
          </a:prstGeom>
        </p:spPr>
      </p:pic>
      <p:sp>
        <p:nvSpPr>
          <p:cNvPr id="5" name="Rectangle 4">
            <a:extLst>
              <a:ext uri="{FF2B5EF4-FFF2-40B4-BE49-F238E27FC236}">
                <a16:creationId xmlns:a16="http://schemas.microsoft.com/office/drawing/2014/main" id="{8E475ACC-C94E-4FC0-80FB-F3E123DFAAE1}"/>
              </a:ext>
            </a:extLst>
          </p:cNvPr>
          <p:cNvSpPr>
            <a:spLocks noGrp="1"/>
          </p:cNvSpPr>
          <p:nvPr/>
        </p:nvSpPr>
        <p:spPr>
          <a:xfrm>
            <a:off x="8366760" y="1325880"/>
            <a:ext cx="3429000" cy="1737360"/>
          </a:xfrm>
          <a:prstGeom prst="rect">
            <a:avLst/>
          </a:prstGeom>
          <a:solidFill>
            <a:srgbClr val="EAF5FB"/>
          </a:solidFill>
          <a:ln w="0">
            <a:noFill/>
            <a:prstDash val="solid"/>
          </a:ln>
        </p:spPr>
      </p:sp>
      <p:sp>
        <p:nvSpPr>
          <p:cNvPr id="6" name="Rectangle 5">
            <a:extLst>
              <a:ext uri="{FF2B5EF4-FFF2-40B4-BE49-F238E27FC236}">
                <a16:creationId xmlns:a16="http://schemas.microsoft.com/office/drawing/2014/main" id="{44698A31-2DE5-4CE3-80AE-292B66688DD8}"/>
              </a:ext>
            </a:extLst>
          </p:cNvPr>
          <p:cNvSpPr>
            <a:spLocks noGrp="1"/>
          </p:cNvSpPr>
          <p:nvPr/>
        </p:nvSpPr>
        <p:spPr>
          <a:xfrm>
            <a:off x="8641080" y="1508760"/>
            <a:ext cx="2880360" cy="320040"/>
          </a:xfrm>
          <a:prstGeom prst="rect">
            <a:avLst/>
          </a:prstGeom>
          <a:noFill/>
          <a:ln w="0">
            <a:noFill/>
            <a:prstDash val="solid"/>
          </a:ln>
        </p:spPr>
        <p:txBody>
          <a:bodyPr anchor="t"/>
          <a:lstStyle/>
          <a:p>
            <a:pPr algn="l">
              <a:defRPr sz="1725" b="1">
                <a:solidFill>
                  <a:srgbClr val="24597F"/>
                </a:solidFill>
                <a:latin typeface="Arial"/>
                <a:ea typeface="Arial"/>
                <a:cs typeface="Arial"/>
              </a:defRPr>
            </a:pPr>
            <a:r>
              <a:rPr sz="1725" b="1">
                <a:solidFill>
                  <a:srgbClr val="24597F"/>
                </a:solidFill>
                <a:latin typeface="Arial"/>
                <a:ea typeface="Arial"/>
                <a:cs typeface="Arial"/>
              </a:rPr>
              <a:t>Boustani</a:t>
            </a:r>
          </a:p>
        </p:txBody>
      </p:sp>
      <p:sp>
        <p:nvSpPr>
          <p:cNvPr id="7" name="Rectangle 6">
            <a:extLst>
              <a:ext uri="{FF2B5EF4-FFF2-40B4-BE49-F238E27FC236}">
                <a16:creationId xmlns:a16="http://schemas.microsoft.com/office/drawing/2014/main" id="{52C32D17-E5E8-4669-BF05-5B4FDCB59B9A}"/>
              </a:ext>
            </a:extLst>
          </p:cNvPr>
          <p:cNvSpPr>
            <a:spLocks noGrp="1"/>
          </p:cNvSpPr>
          <p:nvPr/>
        </p:nvSpPr>
        <p:spPr>
          <a:xfrm>
            <a:off x="8641080" y="1938528"/>
            <a:ext cx="2880360" cy="566928"/>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00" b="1">
                <a:solidFill>
                  <a:srgbClr val="111111"/>
                </a:solidFill>
                <a:latin typeface="Arial"/>
                <a:ea typeface="Arial"/>
                <a:cs typeface="Arial"/>
              </a:rPr>
              <a:t>Burden remained associated</a:t>
            </a:r>
          </a:p>
          <a:p>
            <a:pPr algn="l">
              <a:defRPr sz="1575" b="1">
                <a:solidFill>
                  <a:srgbClr val="111111"/>
                </a:solidFill>
                <a:latin typeface="Arial"/>
                <a:ea typeface="Arial"/>
                <a:cs typeface="Arial"/>
              </a:defRPr>
            </a:pPr>
            <a:r>
              <a:rPr sz="1500" b="1">
                <a:solidFill>
                  <a:srgbClr val="111111"/>
                </a:solidFill>
                <a:latin typeface="Arial"/>
                <a:ea typeface="Arial"/>
                <a:cs typeface="Arial"/>
              </a:rPr>
              <a:t>beyond medication count</a:t>
            </a:r>
          </a:p>
        </p:txBody>
      </p:sp>
      <p:sp>
        <p:nvSpPr>
          <p:cNvPr id="8" name="Rectangle 7">
            <a:extLst>
              <a:ext uri="{FF2B5EF4-FFF2-40B4-BE49-F238E27FC236}">
                <a16:creationId xmlns:a16="http://schemas.microsoft.com/office/drawing/2014/main" id="{2D1F99AC-A68C-47ED-9F63-563F8279FC08}"/>
              </a:ext>
            </a:extLst>
          </p:cNvPr>
          <p:cNvSpPr>
            <a:spLocks noGrp="1"/>
          </p:cNvSpPr>
          <p:nvPr/>
        </p:nvSpPr>
        <p:spPr>
          <a:xfrm>
            <a:off x="8641080" y="2615184"/>
            <a:ext cx="2880360" cy="283464"/>
          </a:xfrm>
          <a:prstGeom prst="rect">
            <a:avLst/>
          </a:prstGeom>
          <a:noFill/>
          <a:ln w="0">
            <a:noFill/>
            <a:prstDash val="solid"/>
          </a:ln>
        </p:spPr>
        <p:txBody>
          <a:bodyPr anchor="t"/>
          <a:lstStyle/>
          <a:p>
            <a:pPr algn="l">
              <a:defRPr sz="1275" b="0">
                <a:solidFill>
                  <a:srgbClr val="5D6670"/>
                </a:solidFill>
                <a:latin typeface="Arial"/>
                <a:ea typeface="Arial"/>
                <a:cs typeface="Arial"/>
              </a:defRPr>
            </a:pPr>
            <a:r>
              <a:rPr sz="1275" b="0">
                <a:solidFill>
                  <a:srgbClr val="5D6670"/>
                </a:solidFill>
                <a:latin typeface="Arial"/>
                <a:ea typeface="Arial"/>
                <a:cs typeface="Arial"/>
              </a:rPr>
              <a:t>M3: −1.14; p=0.005</a:t>
            </a:r>
          </a:p>
        </p:txBody>
      </p:sp>
      <p:sp>
        <p:nvSpPr>
          <p:cNvPr id="9" name="Rectangle 8">
            <a:extLst>
              <a:ext uri="{FF2B5EF4-FFF2-40B4-BE49-F238E27FC236}">
                <a16:creationId xmlns:a16="http://schemas.microsoft.com/office/drawing/2014/main" id="{C3A58098-9D4B-4317-9675-74C5B841D82F}"/>
              </a:ext>
            </a:extLst>
          </p:cNvPr>
          <p:cNvSpPr>
            <a:spLocks noGrp="1"/>
          </p:cNvSpPr>
          <p:nvPr/>
        </p:nvSpPr>
        <p:spPr>
          <a:xfrm>
            <a:off x="8366760" y="3246120"/>
            <a:ext cx="3429000" cy="1737360"/>
          </a:xfrm>
          <a:prstGeom prst="rect">
            <a:avLst/>
          </a:prstGeom>
          <a:solidFill>
            <a:srgbClr val="FAECE9"/>
          </a:solidFill>
          <a:ln w="0">
            <a:noFill/>
            <a:prstDash val="solid"/>
          </a:ln>
        </p:spPr>
      </p:sp>
      <p:sp>
        <p:nvSpPr>
          <p:cNvPr id="10" name="Rectangle 9">
            <a:extLst>
              <a:ext uri="{FF2B5EF4-FFF2-40B4-BE49-F238E27FC236}">
                <a16:creationId xmlns:a16="http://schemas.microsoft.com/office/drawing/2014/main" id="{CE1A6067-F43B-4BE2-B7C8-19A249BD9B8D}"/>
              </a:ext>
            </a:extLst>
          </p:cNvPr>
          <p:cNvSpPr>
            <a:spLocks noGrp="1"/>
          </p:cNvSpPr>
          <p:nvPr/>
        </p:nvSpPr>
        <p:spPr>
          <a:xfrm>
            <a:off x="8641080" y="3429000"/>
            <a:ext cx="2880360" cy="320040"/>
          </a:xfrm>
          <a:prstGeom prst="rect">
            <a:avLst/>
          </a:prstGeom>
          <a:noFill/>
          <a:ln w="0">
            <a:noFill/>
            <a:prstDash val="solid"/>
          </a:ln>
        </p:spPr>
        <p:txBody>
          <a:bodyPr anchor="t"/>
          <a:lstStyle/>
          <a:p>
            <a:pPr algn="l">
              <a:defRPr sz="1725" b="1">
                <a:solidFill>
                  <a:srgbClr val="C84630"/>
                </a:solidFill>
                <a:latin typeface="Arial"/>
                <a:ea typeface="Arial"/>
                <a:cs typeface="Arial"/>
              </a:defRPr>
            </a:pPr>
            <a:r>
              <a:rPr sz="1725" b="1">
                <a:solidFill>
                  <a:srgbClr val="C84630"/>
                </a:solidFill>
                <a:latin typeface="Arial"/>
                <a:ea typeface="Arial"/>
                <a:cs typeface="Arial"/>
              </a:rPr>
              <a:t>IACB</a:t>
            </a:r>
          </a:p>
        </p:txBody>
      </p:sp>
      <p:sp>
        <p:nvSpPr>
          <p:cNvPr id="11" name="Rectangle 10">
            <a:extLst>
              <a:ext uri="{FF2B5EF4-FFF2-40B4-BE49-F238E27FC236}">
                <a16:creationId xmlns:a16="http://schemas.microsoft.com/office/drawing/2014/main" id="{019E6723-801B-43EC-B3F6-D5A175B0B088}"/>
              </a:ext>
            </a:extLst>
          </p:cNvPr>
          <p:cNvSpPr>
            <a:spLocks noGrp="1"/>
          </p:cNvSpPr>
          <p:nvPr/>
        </p:nvSpPr>
        <p:spPr>
          <a:xfrm>
            <a:off x="8641080" y="3858768"/>
            <a:ext cx="2880360" cy="566928"/>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00" b="1">
                <a:solidFill>
                  <a:srgbClr val="111111"/>
                </a:solidFill>
                <a:latin typeface="Arial"/>
                <a:ea typeface="Arial"/>
                <a:cs typeface="Arial"/>
              </a:rPr>
              <a:t>No burden association in</a:t>
            </a:r>
          </a:p>
          <a:p>
            <a:pPr algn="l">
              <a:defRPr sz="1575" b="1">
                <a:solidFill>
                  <a:srgbClr val="111111"/>
                </a:solidFill>
                <a:latin typeface="Arial"/>
                <a:ea typeface="Arial"/>
                <a:cs typeface="Arial"/>
              </a:defRPr>
            </a:pPr>
            <a:r>
              <a:rPr sz="1500" b="1">
                <a:solidFill>
                  <a:srgbClr val="111111"/>
                </a:solidFill>
                <a:latin typeface="Arial"/>
                <a:ea typeface="Arial"/>
                <a:cs typeface="Arial"/>
              </a:rPr>
              <a:t>the head-to-head model</a:t>
            </a:r>
          </a:p>
        </p:txBody>
      </p:sp>
      <p:sp>
        <p:nvSpPr>
          <p:cNvPr id="12" name="Rectangle 11">
            <a:extLst>
              <a:ext uri="{FF2B5EF4-FFF2-40B4-BE49-F238E27FC236}">
                <a16:creationId xmlns:a16="http://schemas.microsoft.com/office/drawing/2014/main" id="{2A7A45D6-1505-45D5-8E4B-30C4D99921D4}"/>
              </a:ext>
            </a:extLst>
          </p:cNvPr>
          <p:cNvSpPr>
            <a:spLocks noGrp="1"/>
          </p:cNvSpPr>
          <p:nvPr/>
        </p:nvSpPr>
        <p:spPr>
          <a:xfrm>
            <a:off x="8641080" y="4535424"/>
            <a:ext cx="2880360" cy="283464"/>
          </a:xfrm>
          <a:prstGeom prst="rect">
            <a:avLst/>
          </a:prstGeom>
          <a:noFill/>
          <a:ln w="0">
            <a:noFill/>
            <a:prstDash val="solid"/>
          </a:ln>
        </p:spPr>
        <p:txBody>
          <a:bodyPr anchor="t"/>
          <a:lstStyle/>
          <a:p>
            <a:pPr algn="l">
              <a:defRPr sz="1275" b="0">
                <a:solidFill>
                  <a:srgbClr val="5D6670"/>
                </a:solidFill>
                <a:latin typeface="Arial"/>
                <a:ea typeface="Arial"/>
                <a:cs typeface="Arial"/>
              </a:defRPr>
            </a:pPr>
            <a:r>
              <a:rPr sz="1275" b="0">
                <a:solidFill>
                  <a:srgbClr val="5D6670"/>
                </a:solidFill>
                <a:latin typeface="Arial"/>
                <a:ea typeface="Arial"/>
                <a:cs typeface="Arial"/>
              </a:rPr>
              <a:t>M3: +0.08; p=0.776</a:t>
            </a:r>
          </a:p>
        </p:txBody>
      </p:sp>
      <p:sp>
        <p:nvSpPr>
          <p:cNvPr id="13" name="Rectangle 12">
            <a:extLst>
              <a:ext uri="{FF2B5EF4-FFF2-40B4-BE49-F238E27FC236}">
                <a16:creationId xmlns:a16="http://schemas.microsoft.com/office/drawing/2014/main" id="{70E14099-C803-46AF-A494-5C9FA9D73995}"/>
              </a:ext>
            </a:extLst>
          </p:cNvPr>
          <p:cNvSpPr>
            <a:spLocks noGrp="1"/>
          </p:cNvSpPr>
          <p:nvPr/>
        </p:nvSpPr>
        <p:spPr>
          <a:xfrm>
            <a:off x="8366760" y="5138928"/>
            <a:ext cx="3429000" cy="603504"/>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75" b="1">
                <a:solidFill>
                  <a:srgbClr val="111111"/>
                </a:solidFill>
                <a:latin typeface="Arial"/>
                <a:ea typeface="Arial"/>
                <a:cs typeface="Arial"/>
              </a:rPr>
              <a:t>Same participants. Same models. Different scoring instrument.</a:t>
            </a:r>
          </a:p>
        </p:txBody>
      </p:sp>
      <p:sp>
        <p:nvSpPr>
          <p:cNvPr id="18" name="TextBox 17"/>
          <p:cNvSpPr txBox="1"/>
          <p:nvPr/>
        </p:nvSpPr>
        <p:spPr>
          <a:xfrm>
            <a:off x="8366760" y="5797296"/>
            <a:ext cx="3429000" cy="502920"/>
          </a:xfrm>
          <a:prstGeom prst="rect">
            <a:avLst/>
          </a:prstGeom>
          <a:noFill/>
        </p:spPr>
        <p:txBody>
          <a:bodyPr wrap="square" lIns="45720" tIns="0" bIns="0">
            <a:spAutoFit/>
          </a:bodyPr>
          <a:lstStyle/>
          <a:p>
            <a:r>
              <a:rPr sz="1050">
                <a:solidFill>
                  <a:srgbClr val="707070"/>
                </a:solidFill>
                <a:latin typeface="Arial"/>
              </a:rPr>
              <a:t>M3 = burden and medication count entered together. Under full adjustment (M4) both scales show an association.</a:t>
            </a:r>
          </a:p>
        </p:txBody>
      </p:sp>
    </p:spTree>
    <p:extLst>
      <p:ext uri="{BB962C8B-B14F-4D97-AF65-F5344CB8AC3E}">
        <p14:creationId xmlns:p14="http://schemas.microsoft.com/office/powerpoint/2010/main" val="1757291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8-title">
            <a:extLst>
              <a:ext uri="{FF2B5EF4-FFF2-40B4-BE49-F238E27FC236}">
                <a16:creationId xmlns:a16="http://schemas.microsoft.com/office/drawing/2014/main" id="{7148476A-9AFE-418F-80CC-5CACF9751AC4}"/>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The scales disagree about which drugs generate burden</a:t>
            </a:r>
          </a:p>
        </p:txBody>
      </p:sp>
      <p:sp>
        <p:nvSpPr>
          <p:cNvPr id="2" name="slide-8-eyebrow">
            <a:extLst>
              <a:ext uri="{FF2B5EF4-FFF2-40B4-BE49-F238E27FC236}">
                <a16:creationId xmlns:a16="http://schemas.microsoft.com/office/drawing/2014/main" id="{2D553AB4-74FA-45D8-B062-DDB830991032}"/>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INTERPRETATION</a:t>
            </a:r>
          </a:p>
        </p:txBody>
      </p:sp>
      <p:sp>
        <p:nvSpPr>
          <p:cNvPr id="3" name="slide-8-number">
            <a:extLst>
              <a:ext uri="{FF2B5EF4-FFF2-40B4-BE49-F238E27FC236}">
                <a16:creationId xmlns:a16="http://schemas.microsoft.com/office/drawing/2014/main" id="{CF2D5D52-7336-4704-A42F-4DB8282EE983}"/>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8</a:t>
            </a:r>
          </a:p>
        </p:txBody>
      </p:sp>
      <p:pic>
        <p:nvPicPr>
          <p:cNvPr id="15" name="Picture 14"/>
          <p:cNvPicPr>
            <a:picLocks noChangeAspect="1"/>
          </p:cNvPicPr>
          <p:nvPr/>
        </p:nvPicPr>
        <p:blipFill>
          <a:blip r:embed="rId3"/>
          <a:stretch/>
        </p:blipFill>
        <p:spPr>
          <a:xfrm>
            <a:off x="850392" y="1069848"/>
            <a:ext cx="5897880" cy="4956048"/>
          </a:xfrm>
          <a:prstGeom prst="rect">
            <a:avLst/>
          </a:prstGeom>
        </p:spPr>
      </p:pic>
      <p:sp>
        <p:nvSpPr>
          <p:cNvPr id="5" name="Rectangle 4">
            <a:extLst>
              <a:ext uri="{FF2B5EF4-FFF2-40B4-BE49-F238E27FC236}">
                <a16:creationId xmlns:a16="http://schemas.microsoft.com/office/drawing/2014/main" id="{9AD57A64-F8EE-4364-BDC1-31F90D22641C}"/>
              </a:ext>
            </a:extLst>
          </p:cNvPr>
          <p:cNvSpPr>
            <a:spLocks noGrp="1"/>
          </p:cNvSpPr>
          <p:nvPr/>
        </p:nvSpPr>
        <p:spPr>
          <a:xfrm>
            <a:off x="7829550" y="1238250"/>
            <a:ext cx="3238500" cy="781050"/>
          </a:xfrm>
          <a:prstGeom prst="rect">
            <a:avLst/>
          </a:prstGeom>
          <a:noFill/>
          <a:ln w="0">
            <a:noFill/>
            <a:prstDash val="solid"/>
          </a:ln>
        </p:spPr>
        <p:txBody>
          <a:bodyPr anchor="t"/>
          <a:lstStyle/>
          <a:p>
            <a:pPr algn="l">
              <a:defRPr sz="4350" b="1">
                <a:solidFill>
                  <a:srgbClr val="24597F"/>
                </a:solidFill>
                <a:latin typeface="Arial"/>
                <a:ea typeface="Arial"/>
                <a:cs typeface="Arial"/>
              </a:defRPr>
            </a:pPr>
            <a:r>
              <a:rPr sz="4350" b="1">
                <a:solidFill>
                  <a:srgbClr val="24597F"/>
                </a:solidFill>
                <a:latin typeface="Arial"/>
                <a:ea typeface="Arial"/>
                <a:cs typeface="Arial"/>
              </a:rPr>
              <a:t>21.8%</a:t>
            </a:r>
          </a:p>
        </p:txBody>
      </p:sp>
      <p:sp>
        <p:nvSpPr>
          <p:cNvPr id="6" name="Rectangle 5">
            <a:extLst>
              <a:ext uri="{FF2B5EF4-FFF2-40B4-BE49-F238E27FC236}">
                <a16:creationId xmlns:a16="http://schemas.microsoft.com/office/drawing/2014/main" id="{FB6C4971-5AD9-4790-A08E-371F828C33DD}"/>
              </a:ext>
            </a:extLst>
          </p:cNvPr>
          <p:cNvSpPr>
            <a:spLocks noGrp="1"/>
          </p:cNvSpPr>
          <p:nvPr/>
        </p:nvSpPr>
        <p:spPr>
          <a:xfrm>
            <a:off x="7829550" y="2038350"/>
            <a:ext cx="3333750" cy="62865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exact agreement among the</a:t>
            </a:r>
          </a:p>
          <a:p>
            <a:pPr algn="l">
              <a:defRPr sz="1575" b="0">
                <a:solidFill>
                  <a:srgbClr val="5D6670"/>
                </a:solidFill>
                <a:latin typeface="Arial"/>
                <a:ea typeface="Arial"/>
                <a:cs typeface="Arial"/>
              </a:defRPr>
            </a:pPr>
            <a:r>
              <a:rPr sz="1575" b="0">
                <a:solidFill>
                  <a:srgbClr val="5D6670"/>
                </a:solidFill>
                <a:latin typeface="Arial"/>
                <a:ea typeface="Arial"/>
                <a:cs typeface="Arial"/>
              </a:rPr>
              <a:t>87 drugs scored by both scales</a:t>
            </a:r>
          </a:p>
        </p:txBody>
      </p:sp>
      <p:sp>
        <p:nvSpPr>
          <p:cNvPr id="7" name="Straight Connector 6">
            <a:extLst>
              <a:ext uri="{FF2B5EF4-FFF2-40B4-BE49-F238E27FC236}">
                <a16:creationId xmlns:a16="http://schemas.microsoft.com/office/drawing/2014/main" id="{9C04AFF3-B377-4AAD-A031-964311DAE091}"/>
              </a:ext>
            </a:extLst>
          </p:cNvPr>
          <p:cNvSpPr>
            <a:spLocks noGrp="1"/>
          </p:cNvSpPr>
          <p:nvPr/>
        </p:nvSpPr>
        <p:spPr>
          <a:xfrm>
            <a:off x="7829550" y="2895600"/>
            <a:ext cx="3429000" cy="0"/>
          </a:xfrm>
          <a:prstGeom prst="line">
            <a:avLst/>
          </a:prstGeom>
          <a:noFill/>
          <a:ln w="19050">
            <a:solidFill>
              <a:srgbClr val="B8BCC4"/>
            </a:solidFill>
            <a:prstDash val="solid"/>
          </a:ln>
        </p:spPr>
      </p:sp>
      <p:sp>
        <p:nvSpPr>
          <p:cNvPr id="8" name="Rectangle 7">
            <a:extLst>
              <a:ext uri="{FF2B5EF4-FFF2-40B4-BE49-F238E27FC236}">
                <a16:creationId xmlns:a16="http://schemas.microsoft.com/office/drawing/2014/main" id="{0F7DC888-ADC8-49D3-AF28-4580F0EF94DD}"/>
              </a:ext>
            </a:extLst>
          </p:cNvPr>
          <p:cNvSpPr>
            <a:spLocks noGrp="1"/>
          </p:cNvSpPr>
          <p:nvPr/>
        </p:nvSpPr>
        <p:spPr>
          <a:xfrm>
            <a:off x="7829550" y="3162300"/>
            <a:ext cx="3429000" cy="323850"/>
          </a:xfrm>
          <a:prstGeom prst="rect">
            <a:avLst/>
          </a:prstGeom>
          <a:noFill/>
          <a:ln w="0">
            <a:noFill/>
            <a:prstDash val="solid"/>
          </a:ln>
        </p:spPr>
        <p:txBody>
          <a:bodyPr anchor="t"/>
          <a:lstStyle/>
          <a:p>
            <a:pPr algn="l">
              <a:defRPr sz="1650" b="1">
                <a:solidFill>
                  <a:srgbClr val="111111"/>
                </a:solidFill>
                <a:latin typeface="Arial"/>
                <a:ea typeface="Arial"/>
                <a:cs typeface="Arial"/>
              </a:defRPr>
            </a:pPr>
            <a:r>
              <a:rPr sz="1650" b="1">
                <a:solidFill>
                  <a:srgbClr val="111111"/>
                </a:solidFill>
                <a:latin typeface="Arial"/>
                <a:ea typeface="Arial"/>
                <a:cs typeface="Arial"/>
              </a:rPr>
              <a:t>Common cardiovascular drugs</a:t>
            </a:r>
          </a:p>
        </p:txBody>
      </p:sp>
      <p:sp>
        <p:nvSpPr>
          <p:cNvPr id="9" name="Rectangle 8">
            <a:extLst>
              <a:ext uri="{FF2B5EF4-FFF2-40B4-BE49-F238E27FC236}">
                <a16:creationId xmlns:a16="http://schemas.microsoft.com/office/drawing/2014/main" id="{224AB1B4-F4AD-4FE1-9263-4D8898BD016F}"/>
              </a:ext>
            </a:extLst>
          </p:cNvPr>
          <p:cNvSpPr>
            <a:spLocks noGrp="1"/>
          </p:cNvSpPr>
          <p:nvPr/>
        </p:nvSpPr>
        <p:spPr>
          <a:xfrm>
            <a:off x="7829550" y="3600450"/>
            <a:ext cx="3429000" cy="647700"/>
          </a:xfrm>
          <a:prstGeom prst="rect">
            <a:avLst/>
          </a:prstGeom>
          <a:noFill/>
          <a:ln w="0">
            <a:noFill/>
            <a:prstDash val="solid"/>
          </a:ln>
        </p:spPr>
        <p:txBody>
          <a:bodyPr anchor="t"/>
          <a:lstStyle/>
          <a:p>
            <a:pPr algn="l">
              <a:defRPr sz="1500" b="0">
                <a:solidFill>
                  <a:srgbClr val="C84630"/>
                </a:solidFill>
                <a:latin typeface="Arial"/>
                <a:ea typeface="Arial"/>
                <a:cs typeface="Arial"/>
              </a:defRPr>
            </a:pPr>
            <a:r>
              <a:rPr sz="1500" b="0">
                <a:solidFill>
                  <a:srgbClr val="C84630"/>
                </a:solidFill>
                <a:latin typeface="Arial"/>
                <a:ea typeface="Arial"/>
                <a:cs typeface="Arial"/>
              </a:rPr>
              <a:t>Metoprolol and furosemide:</a:t>
            </a:r>
          </a:p>
          <a:p>
            <a:pPr algn="l">
              <a:defRPr sz="1500" b="0">
                <a:solidFill>
                  <a:srgbClr val="C84630"/>
                </a:solidFill>
                <a:latin typeface="Arial"/>
                <a:ea typeface="Arial"/>
                <a:cs typeface="Arial"/>
              </a:defRPr>
            </a:pPr>
            <a:r>
              <a:rPr sz="1500" b="0">
                <a:solidFill>
                  <a:srgbClr val="C84630"/>
                </a:solidFill>
                <a:latin typeface="Arial"/>
                <a:ea typeface="Arial"/>
                <a:cs typeface="Arial"/>
              </a:rPr>
              <a:t>Boustani = 1  |  IACB = 0</a:t>
            </a:r>
          </a:p>
        </p:txBody>
      </p:sp>
      <p:sp>
        <p:nvSpPr>
          <p:cNvPr id="10" name="Rectangle 9">
            <a:extLst>
              <a:ext uri="{FF2B5EF4-FFF2-40B4-BE49-F238E27FC236}">
                <a16:creationId xmlns:a16="http://schemas.microsoft.com/office/drawing/2014/main" id="{55EA0C0C-4C99-48DD-B51D-8CE5222BEFA6}"/>
              </a:ext>
            </a:extLst>
          </p:cNvPr>
          <p:cNvSpPr>
            <a:spLocks noGrp="1"/>
          </p:cNvSpPr>
          <p:nvPr/>
        </p:nvSpPr>
        <p:spPr>
          <a:xfrm>
            <a:off x="7829550" y="4457700"/>
            <a:ext cx="3429000" cy="800100"/>
          </a:xfrm>
          <a:prstGeom prst="rect">
            <a:avLst/>
          </a:prstGeom>
          <a:noFill/>
          <a:ln w="0">
            <a:noFill/>
            <a:prstDash val="solid"/>
          </a:ln>
        </p:spPr>
        <p:txBody>
          <a:bodyPr anchor="t"/>
          <a:lstStyle/>
          <a:p>
            <a:pPr algn="l">
              <a:defRPr sz="1425" b="0">
                <a:solidFill>
                  <a:srgbClr val="5D6670"/>
                </a:solidFill>
                <a:latin typeface="Arial"/>
                <a:ea typeface="Arial"/>
                <a:cs typeface="Arial"/>
              </a:defRPr>
            </a:pPr>
            <a:r>
              <a:rPr sz="1425" b="0">
                <a:solidFill>
                  <a:srgbClr val="5D6670"/>
                </a:solidFill>
                <a:latin typeface="Arial"/>
                <a:ea typeface="Arial"/>
                <a:cs typeface="Arial"/>
              </a:rPr>
              <a:t>They are common, occur on long medication lists and may also mark cardiovascular illness.</a:t>
            </a:r>
          </a:p>
        </p:txBody>
      </p:sp>
      <p:sp>
        <p:nvSpPr>
          <p:cNvPr id="11" name="Rectangle 10">
            <a:extLst>
              <a:ext uri="{FF2B5EF4-FFF2-40B4-BE49-F238E27FC236}">
                <a16:creationId xmlns:a16="http://schemas.microsoft.com/office/drawing/2014/main" id="{B69B5027-A3B5-47AD-8E45-B12EBE78FA29}"/>
              </a:ext>
            </a:extLst>
          </p:cNvPr>
          <p:cNvSpPr>
            <a:spLocks noGrp="1"/>
          </p:cNvSpPr>
          <p:nvPr/>
        </p:nvSpPr>
        <p:spPr>
          <a:xfrm>
            <a:off x="7829550" y="5448300"/>
            <a:ext cx="3429000" cy="628650"/>
          </a:xfrm>
          <a:prstGeom prst="rect">
            <a:avLst/>
          </a:prstGeom>
          <a:noFill/>
          <a:ln w="0">
            <a:noFill/>
            <a:prstDash val="solid"/>
          </a:ln>
        </p:spPr>
        <p:txBody>
          <a:bodyPr anchor="t"/>
          <a:lstStyle/>
          <a:p>
            <a:pPr algn="l">
              <a:defRPr sz="1500" b="1">
                <a:solidFill>
                  <a:srgbClr val="111111"/>
                </a:solidFill>
                <a:latin typeface="Arial"/>
                <a:ea typeface="Arial"/>
                <a:cs typeface="Arial"/>
              </a:defRPr>
            </a:pPr>
            <a:r>
              <a:rPr sz="1500" b="1">
                <a:solidFill>
                  <a:srgbClr val="111111"/>
                </a:solidFill>
                <a:latin typeface="Arial"/>
                <a:ea typeface="Arial"/>
                <a:cs typeface="Arial"/>
              </a:rPr>
              <a:t>Scale disagreement is not a technical footnote — it changes the substantive conclusion.</a:t>
            </a:r>
          </a:p>
        </p:txBody>
      </p:sp>
    </p:spTree>
    <p:extLst>
      <p:ext uri="{BB962C8B-B14F-4D97-AF65-F5344CB8AC3E}">
        <p14:creationId xmlns:p14="http://schemas.microsoft.com/office/powerpoint/2010/main" val="1062066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9-title">
            <a:extLst>
              <a:ext uri="{FF2B5EF4-FFF2-40B4-BE49-F238E27FC236}">
                <a16:creationId xmlns:a16="http://schemas.microsoft.com/office/drawing/2014/main" id="{67FC5A8A-EF45-4949-9266-C5986F3707D6}"/>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The association is informative, but it is not causal</a:t>
            </a:r>
          </a:p>
        </p:txBody>
      </p:sp>
      <p:sp>
        <p:nvSpPr>
          <p:cNvPr id="2" name="slide-9-eyebrow">
            <a:extLst>
              <a:ext uri="{FF2B5EF4-FFF2-40B4-BE49-F238E27FC236}">
                <a16:creationId xmlns:a16="http://schemas.microsoft.com/office/drawing/2014/main" id="{E11DB893-9B1C-4C2F-98B7-BBF5B7A1C02A}"/>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CRITICAL EVALUATION</a:t>
            </a:r>
          </a:p>
        </p:txBody>
      </p:sp>
      <p:sp>
        <p:nvSpPr>
          <p:cNvPr id="3" name="slide-9-number">
            <a:extLst>
              <a:ext uri="{FF2B5EF4-FFF2-40B4-BE49-F238E27FC236}">
                <a16:creationId xmlns:a16="http://schemas.microsoft.com/office/drawing/2014/main" id="{ABCD3B0D-2A34-4DB1-8B53-2ADCC7C96A90}"/>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9</a:t>
            </a:r>
          </a:p>
        </p:txBody>
      </p:sp>
      <p:sp>
        <p:nvSpPr>
          <p:cNvPr id="4" name="Rectangle 3">
            <a:extLst>
              <a:ext uri="{FF2B5EF4-FFF2-40B4-BE49-F238E27FC236}">
                <a16:creationId xmlns:a16="http://schemas.microsoft.com/office/drawing/2014/main" id="{B16F8C78-A36A-4F60-A5BC-FBC87DFFD0BE}"/>
              </a:ext>
            </a:extLst>
          </p:cNvPr>
          <p:cNvSpPr>
            <a:spLocks noGrp="1"/>
          </p:cNvSpPr>
          <p:nvPr/>
        </p:nvSpPr>
        <p:spPr>
          <a:xfrm>
            <a:off x="400050" y="1352550"/>
            <a:ext cx="5476875" cy="3695700"/>
          </a:xfrm>
          <a:prstGeom prst="rect">
            <a:avLst/>
          </a:prstGeom>
          <a:solidFill>
            <a:srgbClr val="EAF5FB"/>
          </a:solidFill>
          <a:ln w="0">
            <a:noFill/>
            <a:prstDash val="solid"/>
          </a:ln>
        </p:spPr>
      </p:sp>
      <p:sp>
        <p:nvSpPr>
          <p:cNvPr id="5" name="Rectangle 4">
            <a:extLst>
              <a:ext uri="{FF2B5EF4-FFF2-40B4-BE49-F238E27FC236}">
                <a16:creationId xmlns:a16="http://schemas.microsoft.com/office/drawing/2014/main" id="{30E4F873-3F56-49C3-AC68-7D5BFE4B5D90}"/>
              </a:ext>
            </a:extLst>
          </p:cNvPr>
          <p:cNvSpPr>
            <a:spLocks noGrp="1"/>
          </p:cNvSpPr>
          <p:nvPr/>
        </p:nvSpPr>
        <p:spPr>
          <a:xfrm>
            <a:off x="6315075" y="1352550"/>
            <a:ext cx="5476875" cy="3695700"/>
          </a:xfrm>
          <a:prstGeom prst="rect">
            <a:avLst/>
          </a:prstGeom>
          <a:solidFill>
            <a:srgbClr val="F6F7F8"/>
          </a:solidFill>
          <a:ln w="0">
            <a:noFill/>
            <a:prstDash val="solid"/>
          </a:ln>
        </p:spPr>
      </p:sp>
      <p:sp>
        <p:nvSpPr>
          <p:cNvPr id="6" name="Rectangle 5">
            <a:extLst>
              <a:ext uri="{FF2B5EF4-FFF2-40B4-BE49-F238E27FC236}">
                <a16:creationId xmlns:a16="http://schemas.microsoft.com/office/drawing/2014/main" id="{3D66BEAD-64CB-4BC0-BF0E-DAD1F1D07BD6}"/>
              </a:ext>
            </a:extLst>
          </p:cNvPr>
          <p:cNvSpPr>
            <a:spLocks noGrp="1"/>
          </p:cNvSpPr>
          <p:nvPr/>
        </p:nvSpPr>
        <p:spPr>
          <a:xfrm>
            <a:off x="704850" y="1657350"/>
            <a:ext cx="2381250" cy="361950"/>
          </a:xfrm>
          <a:prstGeom prst="rect">
            <a:avLst/>
          </a:prstGeom>
          <a:noFill/>
          <a:ln w="0">
            <a:noFill/>
            <a:prstDash val="solid"/>
          </a:ln>
        </p:spPr>
        <p:txBody>
          <a:bodyPr anchor="t"/>
          <a:lstStyle/>
          <a:p>
            <a:pPr algn="l">
              <a:defRPr sz="2175" b="1">
                <a:solidFill>
                  <a:srgbClr val="24597F"/>
                </a:solidFill>
                <a:latin typeface="Arial"/>
                <a:ea typeface="Arial"/>
                <a:cs typeface="Arial"/>
              </a:defRPr>
            </a:pPr>
            <a:r>
              <a:rPr sz="2175" b="1">
                <a:solidFill>
                  <a:srgbClr val="24597F"/>
                </a:solidFill>
                <a:latin typeface="Arial"/>
                <a:ea typeface="Arial"/>
                <a:cs typeface="Arial"/>
              </a:rPr>
              <a:t>Strengths</a:t>
            </a:r>
          </a:p>
        </p:txBody>
      </p:sp>
      <p:sp>
        <p:nvSpPr>
          <p:cNvPr id="7" name="Rectangle 6">
            <a:extLst>
              <a:ext uri="{FF2B5EF4-FFF2-40B4-BE49-F238E27FC236}">
                <a16:creationId xmlns:a16="http://schemas.microsoft.com/office/drawing/2014/main" id="{89AA08A2-9038-46D6-9AAC-E743BF89863B}"/>
              </a:ext>
            </a:extLst>
          </p:cNvPr>
          <p:cNvSpPr>
            <a:spLocks noGrp="1"/>
          </p:cNvSpPr>
          <p:nvPr/>
        </p:nvSpPr>
        <p:spPr>
          <a:xfrm>
            <a:off x="704850" y="2266950"/>
            <a:ext cx="4667250" cy="2343150"/>
          </a:xfrm>
          <a:prstGeom prst="rect">
            <a:avLst/>
          </a:prstGeom>
          <a:noFill/>
          <a:ln w="0">
            <a:noFill/>
            <a:prstDash val="solid"/>
          </a:ln>
        </p:spPr>
        <p:txBody>
          <a:bodyPr anchor="t"/>
          <a:lstStyle/>
          <a:p>
            <a:pPr algn="l">
              <a:defRPr sz="1575" b="0">
                <a:solidFill>
                  <a:srgbClr val="111111"/>
                </a:solidFill>
                <a:latin typeface="Arial"/>
                <a:ea typeface="Arial"/>
                <a:cs typeface="Arial"/>
              </a:defRPr>
            </a:pPr>
            <a:r>
              <a:rPr sz="1575" b="0">
                <a:solidFill>
                  <a:srgbClr val="111111"/>
                </a:solidFill>
                <a:latin typeface="Arial"/>
                <a:ea typeface="Arial"/>
                <a:cs typeface="Arial"/>
              </a:rPr>
              <a:t>• Nationally representative survey design</a:t>
            </a:r>
          </a:p>
          <a:p>
            <a:endParaRPr sz="1575" b="0">
              <a:solidFill>
                <a:srgbClr val="111111"/>
              </a:solidFill>
              <a:latin typeface="Arial"/>
              <a:ea typeface="Arial"/>
              <a:cs typeface="Arial"/>
            </a:endParaRPr>
          </a:p>
          <a:p>
            <a:pPr algn="l">
              <a:defRPr sz="1575" b="0">
                <a:solidFill>
                  <a:srgbClr val="111111"/>
                </a:solidFill>
                <a:latin typeface="Arial"/>
                <a:ea typeface="Arial"/>
                <a:cs typeface="Arial"/>
              </a:defRPr>
            </a:pPr>
            <a:r>
              <a:rPr sz="1575" b="0">
                <a:solidFill>
                  <a:srgbClr val="111111"/>
                </a:solidFill>
                <a:latin typeface="Arial"/>
                <a:ea typeface="Arial"/>
                <a:cs typeface="Arial"/>
              </a:rPr>
              <a:t>• Burden and medication count tested together</a:t>
            </a:r>
          </a:p>
          <a:p>
            <a:endParaRPr sz="1575" b="0">
              <a:solidFill>
                <a:srgbClr val="111111"/>
              </a:solidFill>
              <a:latin typeface="Arial"/>
              <a:ea typeface="Arial"/>
              <a:cs typeface="Arial"/>
            </a:endParaRPr>
          </a:p>
          <a:p>
            <a:pPr algn="l">
              <a:defRPr sz="1575" b="0">
                <a:solidFill>
                  <a:srgbClr val="111111"/>
                </a:solidFill>
                <a:latin typeface="Arial"/>
                <a:ea typeface="Arial"/>
                <a:cs typeface="Arial"/>
              </a:defRPr>
            </a:pPr>
            <a:r>
              <a:rPr sz="1575" b="0">
                <a:solidFill>
                  <a:srgbClr val="111111"/>
                </a:solidFill>
                <a:latin typeface="Arial"/>
                <a:ea typeface="Arial"/>
                <a:cs typeface="Arial"/>
              </a:rPr>
              <a:t>• IPW, stroke exclusion, comorbidity adjustment and second scale</a:t>
            </a:r>
          </a:p>
        </p:txBody>
      </p:sp>
      <p:sp>
        <p:nvSpPr>
          <p:cNvPr id="8" name="Rectangle 7">
            <a:extLst>
              <a:ext uri="{FF2B5EF4-FFF2-40B4-BE49-F238E27FC236}">
                <a16:creationId xmlns:a16="http://schemas.microsoft.com/office/drawing/2014/main" id="{740F03ED-0BD2-4893-9CD5-B1B3DBC34CB7}"/>
              </a:ext>
            </a:extLst>
          </p:cNvPr>
          <p:cNvSpPr>
            <a:spLocks noGrp="1"/>
          </p:cNvSpPr>
          <p:nvPr/>
        </p:nvSpPr>
        <p:spPr>
          <a:xfrm>
            <a:off x="6619875" y="1657350"/>
            <a:ext cx="2381250" cy="361950"/>
          </a:xfrm>
          <a:prstGeom prst="rect">
            <a:avLst/>
          </a:prstGeom>
          <a:noFill/>
          <a:ln w="0">
            <a:noFill/>
            <a:prstDash val="solid"/>
          </a:ln>
        </p:spPr>
        <p:txBody>
          <a:bodyPr anchor="t"/>
          <a:lstStyle/>
          <a:p>
            <a:pPr algn="l">
              <a:defRPr sz="2175" b="1">
                <a:solidFill>
                  <a:srgbClr val="C84630"/>
                </a:solidFill>
                <a:latin typeface="Arial"/>
                <a:ea typeface="Arial"/>
                <a:cs typeface="Arial"/>
              </a:defRPr>
            </a:pPr>
            <a:r>
              <a:rPr sz="2175" b="1">
                <a:solidFill>
                  <a:srgbClr val="C84630"/>
                </a:solidFill>
                <a:latin typeface="Arial"/>
                <a:ea typeface="Arial"/>
                <a:cs typeface="Arial"/>
              </a:rPr>
              <a:t>Limitations</a:t>
            </a:r>
          </a:p>
        </p:txBody>
      </p:sp>
      <p:sp>
        <p:nvSpPr>
          <p:cNvPr id="9" name="Rectangle 8">
            <a:extLst>
              <a:ext uri="{FF2B5EF4-FFF2-40B4-BE49-F238E27FC236}">
                <a16:creationId xmlns:a16="http://schemas.microsoft.com/office/drawing/2014/main" id="{8EF72B4A-098A-4A94-91B4-470836FDF9A1}"/>
              </a:ext>
            </a:extLst>
          </p:cNvPr>
          <p:cNvSpPr>
            <a:spLocks noGrp="1"/>
          </p:cNvSpPr>
          <p:nvPr/>
        </p:nvSpPr>
        <p:spPr>
          <a:xfrm>
            <a:off x="6619875" y="2266950"/>
            <a:ext cx="4667250" cy="2343150"/>
          </a:xfrm>
          <a:prstGeom prst="rect">
            <a:avLst/>
          </a:prstGeom>
          <a:noFill/>
          <a:ln w="0">
            <a:noFill/>
            <a:prstDash val="solid"/>
          </a:ln>
        </p:spPr>
        <p:txBody>
          <a:bodyPr anchor="t"/>
          <a:lstStyle/>
          <a:p>
            <a:pPr algn="l">
              <a:defRPr sz="1575" b="0">
                <a:solidFill>
                  <a:srgbClr val="111111"/>
                </a:solidFill>
                <a:latin typeface="Arial"/>
                <a:ea typeface="Arial"/>
                <a:cs typeface="Arial"/>
              </a:defRPr>
            </a:pPr>
            <a:r>
              <a:rPr sz="1575" b="0">
                <a:solidFill>
                  <a:srgbClr val="111111"/>
                </a:solidFill>
                <a:latin typeface="Arial"/>
                <a:ea typeface="Arial"/>
                <a:cs typeface="Arial"/>
              </a:rPr>
              <a:t>• Cross-sectional: no temporal or causal inference</a:t>
            </a:r>
          </a:p>
          <a:p>
            <a:endParaRPr sz="1575" b="0">
              <a:solidFill>
                <a:srgbClr val="111111"/>
              </a:solidFill>
              <a:latin typeface="Arial"/>
              <a:ea typeface="Arial"/>
              <a:cs typeface="Arial"/>
            </a:endParaRPr>
          </a:p>
          <a:p>
            <a:pPr algn="l">
              <a:defRPr sz="1575" b="0">
                <a:solidFill>
                  <a:srgbClr val="111111"/>
                </a:solidFill>
                <a:latin typeface="Arial"/>
                <a:ea typeface="Arial"/>
                <a:cs typeface="Arial"/>
              </a:defRPr>
            </a:pPr>
            <a:r>
              <a:rPr sz="1575" b="0">
                <a:solidFill>
                  <a:srgbClr val="111111"/>
                </a:solidFill>
                <a:latin typeface="Arial"/>
                <a:ea typeface="Arial"/>
                <a:cs typeface="Arial"/>
              </a:rPr>
              <a:t>• Residual confounding by illness and indication</a:t>
            </a:r>
          </a:p>
          <a:p>
            <a:endParaRPr sz="1575" b="0">
              <a:solidFill>
                <a:srgbClr val="111111"/>
              </a:solidFill>
              <a:latin typeface="Arial"/>
              <a:ea typeface="Arial"/>
              <a:cs typeface="Arial"/>
            </a:endParaRPr>
          </a:p>
          <a:p>
            <a:pPr algn="l">
              <a:defRPr sz="1575" b="0">
                <a:solidFill>
                  <a:srgbClr val="111111"/>
                </a:solidFill>
                <a:latin typeface="Arial"/>
                <a:ea typeface="Arial"/>
                <a:cs typeface="Arial"/>
              </a:defRPr>
            </a:pPr>
            <a:r>
              <a:rPr sz="1575" b="0">
                <a:solidFill>
                  <a:srgbClr val="111111"/>
                </a:solidFill>
                <a:latin typeface="Arial"/>
                <a:ea typeface="Arial"/>
                <a:cs typeface="Arial"/>
              </a:rPr>
              <a:t>• Exact drug-name matching and no gold-standard burden scale</a:t>
            </a:r>
          </a:p>
        </p:txBody>
      </p:sp>
      <p:sp>
        <p:nvSpPr>
          <p:cNvPr id="10" name="Rectangle 9">
            <a:extLst>
              <a:ext uri="{FF2B5EF4-FFF2-40B4-BE49-F238E27FC236}">
                <a16:creationId xmlns:a16="http://schemas.microsoft.com/office/drawing/2014/main" id="{7726C98D-FF93-4FF7-9FE6-21EFC0C5B43B}"/>
              </a:ext>
            </a:extLst>
          </p:cNvPr>
          <p:cNvSpPr>
            <a:spLocks noGrp="1"/>
          </p:cNvSpPr>
          <p:nvPr/>
        </p:nvSpPr>
        <p:spPr>
          <a:xfrm>
            <a:off x="400050" y="5321808"/>
            <a:ext cx="11391900" cy="841248"/>
          </a:xfrm>
          <a:prstGeom prst="rect">
            <a:avLst/>
          </a:prstGeom>
          <a:solidFill>
            <a:srgbClr val="111111"/>
          </a:solidFill>
          <a:ln w="0">
            <a:noFill/>
            <a:prstDash val="solid"/>
          </a:ln>
        </p:spPr>
      </p:sp>
      <p:sp>
        <p:nvSpPr>
          <p:cNvPr id="11" name="Rectangle 10">
            <a:extLst>
              <a:ext uri="{FF2B5EF4-FFF2-40B4-BE49-F238E27FC236}">
                <a16:creationId xmlns:a16="http://schemas.microsoft.com/office/drawing/2014/main" id="{0A3B9099-EBF6-4E0B-8A6E-AEEF1AEE098C}"/>
              </a:ext>
            </a:extLst>
          </p:cNvPr>
          <p:cNvSpPr>
            <a:spLocks noGrp="1"/>
          </p:cNvSpPr>
          <p:nvPr/>
        </p:nvSpPr>
        <p:spPr>
          <a:xfrm>
            <a:off x="685800" y="5431536"/>
            <a:ext cx="10820400" cy="621792"/>
          </a:xfrm>
          <a:prstGeom prst="rect">
            <a:avLst/>
          </a:prstGeom>
          <a:noFill/>
          <a:ln w="0">
            <a:noFill/>
            <a:prstDash val="solid"/>
          </a:ln>
        </p:spPr>
        <p:txBody>
          <a:bodyPr anchor="t"/>
          <a:lstStyle/>
          <a:p>
            <a:pPr algn="ctr">
              <a:defRPr sz="1725" b="1">
                <a:solidFill>
                  <a:srgbClr val="FFFFFF"/>
                </a:solidFill>
                <a:latin typeface="Arial"/>
                <a:ea typeface="Arial"/>
                <a:cs typeface="Arial"/>
              </a:defRPr>
            </a:pPr>
            <a:r>
              <a:rPr sz="1725" b="1">
                <a:solidFill>
                  <a:srgbClr val="FFFFFF"/>
                </a:solidFill>
                <a:latin typeface="Arial"/>
                <a:ea typeface="Arial"/>
                <a:cs typeface="Arial"/>
              </a:rPr>
              <a:t>Clinical implication: review anticholinergic exposure cautiously; these results do not justify stopping medication.</a:t>
            </a:r>
          </a:p>
        </p:txBody>
      </p:sp>
    </p:spTree>
    <p:extLst>
      <p:ext uri="{BB962C8B-B14F-4D97-AF65-F5344CB8AC3E}">
        <p14:creationId xmlns:p14="http://schemas.microsoft.com/office/powerpoint/2010/main" val="43048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C32954-CD51-49F4-8647-9ABD0279CE42}"/>
              </a:ext>
            </a:extLst>
          </p:cNvPr>
          <p:cNvSpPr>
            <a:spLocks noGrp="1"/>
          </p:cNvSpPr>
          <p:nvPr/>
        </p:nvSpPr>
        <p:spPr>
          <a:xfrm>
            <a:off x="400050" y="400050"/>
            <a:ext cx="2857500" cy="304800"/>
          </a:xfrm>
          <a:prstGeom prst="rect">
            <a:avLst/>
          </a:prstGeom>
          <a:noFill/>
          <a:ln w="0">
            <a:noFill/>
            <a:prstDash val="solid"/>
          </a:ln>
        </p:spPr>
        <p:txBody>
          <a:bodyPr anchor="t"/>
          <a:lstStyle/>
          <a:p>
            <a:pPr algn="l">
              <a:defRPr sz="1350" b="1">
                <a:solidFill>
                  <a:srgbClr val="6DCBF4"/>
                </a:solidFill>
                <a:latin typeface="Arial"/>
                <a:ea typeface="Arial"/>
                <a:cs typeface="Arial"/>
              </a:defRPr>
            </a:pPr>
            <a:r>
              <a:rPr sz="1350" b="1">
                <a:solidFill>
                  <a:srgbClr val="6DCBF4"/>
                </a:solidFill>
                <a:latin typeface="Arial"/>
                <a:ea typeface="Arial"/>
                <a:cs typeface="Arial"/>
              </a:rPr>
              <a:t>CONCLUSION</a:t>
            </a:r>
          </a:p>
        </p:txBody>
      </p:sp>
      <p:sp>
        <p:nvSpPr>
          <p:cNvPr id="2" name="Rectangle 1">
            <a:extLst>
              <a:ext uri="{FF2B5EF4-FFF2-40B4-BE49-F238E27FC236}">
                <a16:creationId xmlns:a16="http://schemas.microsoft.com/office/drawing/2014/main" id="{433D9E13-CC8B-41F6-A984-E627AD3108DF}"/>
              </a:ext>
            </a:extLst>
          </p:cNvPr>
          <p:cNvSpPr>
            <a:spLocks noGrp="1"/>
          </p:cNvSpPr>
          <p:nvPr/>
        </p:nvSpPr>
        <p:spPr>
          <a:xfrm>
            <a:off x="400050" y="1104900"/>
            <a:ext cx="10287000" cy="1390650"/>
          </a:xfrm>
          <a:prstGeom prst="rect">
            <a:avLst/>
          </a:prstGeom>
          <a:noFill/>
          <a:ln w="0">
            <a:noFill/>
            <a:prstDash val="solid"/>
          </a:ln>
        </p:spPr>
        <p:txBody>
          <a:bodyPr anchor="t"/>
          <a:lstStyle/>
          <a:p>
            <a:pPr algn="l">
              <a:defRPr sz="3750" b="1">
                <a:solidFill>
                  <a:srgbClr val="FFFFFF"/>
                </a:solidFill>
                <a:latin typeface="Arial"/>
                <a:ea typeface="Arial"/>
                <a:cs typeface="Arial"/>
              </a:defRPr>
            </a:pPr>
            <a:r>
              <a:rPr sz="3750" b="1">
                <a:solidFill>
                  <a:srgbClr val="FFFFFF"/>
                </a:solidFill>
                <a:latin typeface="Arial"/>
                <a:ea typeface="Arial"/>
                <a:cs typeface="Arial"/>
              </a:rPr>
              <a:t>Higher anticholinergic burden</a:t>
            </a:r>
          </a:p>
          <a:p>
            <a:pPr algn="l">
              <a:defRPr sz="3750" b="1">
                <a:solidFill>
                  <a:srgbClr val="FFFFFF"/>
                </a:solidFill>
                <a:latin typeface="Arial"/>
                <a:ea typeface="Arial"/>
                <a:cs typeface="Arial"/>
              </a:defRPr>
            </a:pPr>
            <a:r>
              <a:rPr sz="3750" b="1">
                <a:solidFill>
                  <a:srgbClr val="FFFFFF"/>
                </a:solidFill>
                <a:latin typeface="Arial"/>
                <a:ea typeface="Arial"/>
                <a:cs typeface="Arial"/>
              </a:rPr>
              <a:t>accompanied poorer processing speed.</a:t>
            </a:r>
          </a:p>
        </p:txBody>
      </p:sp>
      <p:sp>
        <p:nvSpPr>
          <p:cNvPr id="3" name="Rectangle 2">
            <a:extLst>
              <a:ext uri="{FF2B5EF4-FFF2-40B4-BE49-F238E27FC236}">
                <a16:creationId xmlns:a16="http://schemas.microsoft.com/office/drawing/2014/main" id="{B8B87A1F-DF1D-4BE3-8E6A-99605E50BE98}"/>
              </a:ext>
            </a:extLst>
          </p:cNvPr>
          <p:cNvSpPr>
            <a:spLocks noGrp="1"/>
          </p:cNvSpPr>
          <p:nvPr/>
        </p:nvSpPr>
        <p:spPr>
          <a:xfrm>
            <a:off x="400050" y="2800350"/>
            <a:ext cx="10096500" cy="781050"/>
          </a:xfrm>
          <a:prstGeom prst="rect">
            <a:avLst/>
          </a:prstGeom>
          <a:noFill/>
          <a:ln w="0">
            <a:noFill/>
            <a:prstDash val="solid"/>
          </a:ln>
        </p:spPr>
        <p:txBody>
          <a:bodyPr anchor="t"/>
          <a:lstStyle/>
          <a:p>
            <a:pPr algn="l">
              <a:defRPr sz="2550" b="1">
                <a:solidFill>
                  <a:srgbClr val="6DCBF4"/>
                </a:solidFill>
                <a:latin typeface="Arial"/>
                <a:ea typeface="Arial"/>
                <a:cs typeface="Arial"/>
              </a:defRPr>
            </a:pPr>
            <a:r>
              <a:rPr sz="2550" b="1">
                <a:solidFill>
                  <a:srgbClr val="6DCBF4"/>
                </a:solidFill>
                <a:latin typeface="Arial"/>
                <a:ea typeface="Arial"/>
                <a:cs typeface="Arial"/>
              </a:rPr>
              <a:t>But its value beyond medication count depended on the scale used.</a:t>
            </a:r>
          </a:p>
        </p:txBody>
      </p:sp>
      <p:sp>
        <p:nvSpPr>
          <p:cNvPr id="4" name="Straight Connector 3">
            <a:extLst>
              <a:ext uri="{FF2B5EF4-FFF2-40B4-BE49-F238E27FC236}">
                <a16:creationId xmlns:a16="http://schemas.microsoft.com/office/drawing/2014/main" id="{79353582-E1A3-4505-9D47-44F2746BEE92}"/>
              </a:ext>
            </a:extLst>
          </p:cNvPr>
          <p:cNvSpPr>
            <a:spLocks noGrp="1"/>
          </p:cNvSpPr>
          <p:nvPr/>
        </p:nvSpPr>
        <p:spPr>
          <a:xfrm>
            <a:off x="400050" y="4019550"/>
            <a:ext cx="5334000" cy="0"/>
          </a:xfrm>
          <a:prstGeom prst="line">
            <a:avLst/>
          </a:prstGeom>
          <a:noFill/>
          <a:ln w="19050">
            <a:solidFill>
              <a:srgbClr val="5D6670"/>
            </a:solidFill>
            <a:prstDash val="solid"/>
          </a:ln>
        </p:spPr>
      </p:sp>
      <p:sp>
        <p:nvSpPr>
          <p:cNvPr id="5" name="Rectangle 4">
            <a:extLst>
              <a:ext uri="{FF2B5EF4-FFF2-40B4-BE49-F238E27FC236}">
                <a16:creationId xmlns:a16="http://schemas.microsoft.com/office/drawing/2014/main" id="{C88BB90A-157D-4003-AB80-228391FF5702}"/>
              </a:ext>
            </a:extLst>
          </p:cNvPr>
          <p:cNvSpPr>
            <a:spLocks noGrp="1"/>
          </p:cNvSpPr>
          <p:nvPr/>
        </p:nvSpPr>
        <p:spPr>
          <a:xfrm>
            <a:off x="400050" y="4343400"/>
            <a:ext cx="4953000" cy="323850"/>
          </a:xfrm>
          <a:prstGeom prst="rect">
            <a:avLst/>
          </a:prstGeom>
          <a:noFill/>
          <a:ln w="0">
            <a:noFill/>
            <a:prstDash val="solid"/>
          </a:ln>
        </p:spPr>
        <p:txBody>
          <a:bodyPr anchor="t"/>
          <a:lstStyle/>
          <a:p>
            <a:pPr algn="l">
              <a:defRPr sz="1725" b="1">
                <a:solidFill>
                  <a:srgbClr val="FFFFFF"/>
                </a:solidFill>
                <a:latin typeface="Arial"/>
                <a:ea typeface="Arial"/>
                <a:cs typeface="Arial"/>
              </a:defRPr>
            </a:pPr>
            <a:r>
              <a:rPr sz="1725" b="1">
                <a:solidFill>
                  <a:srgbClr val="FFFFFF"/>
                </a:solidFill>
                <a:latin typeface="Arial"/>
                <a:ea typeface="Arial"/>
                <a:cs typeface="Arial"/>
              </a:rPr>
              <a:t>Instrument-dependent association</a:t>
            </a:r>
          </a:p>
        </p:txBody>
      </p:sp>
      <p:sp>
        <p:nvSpPr>
          <p:cNvPr id="6" name="Rectangle 5">
            <a:extLst>
              <a:ext uri="{FF2B5EF4-FFF2-40B4-BE49-F238E27FC236}">
                <a16:creationId xmlns:a16="http://schemas.microsoft.com/office/drawing/2014/main" id="{365A3E7F-F0A5-4056-96D8-44D00F29D030}"/>
              </a:ext>
            </a:extLst>
          </p:cNvPr>
          <p:cNvSpPr>
            <a:spLocks noGrp="1"/>
          </p:cNvSpPr>
          <p:nvPr/>
        </p:nvSpPr>
        <p:spPr>
          <a:xfrm>
            <a:off x="400050" y="4819650"/>
            <a:ext cx="6286500" cy="552450"/>
          </a:xfrm>
          <a:prstGeom prst="rect">
            <a:avLst/>
          </a:prstGeom>
          <a:noFill/>
          <a:ln w="0">
            <a:noFill/>
            <a:prstDash val="solid"/>
          </a:ln>
        </p:spPr>
        <p:txBody>
          <a:bodyPr anchor="t"/>
          <a:lstStyle/>
          <a:p>
            <a:pPr algn="l">
              <a:defRPr sz="1575" b="0">
                <a:solidFill>
                  <a:srgbClr val="C6CBD0"/>
                </a:solidFill>
                <a:latin typeface="Arial"/>
                <a:ea typeface="Arial"/>
                <a:cs typeface="Arial"/>
              </a:defRPr>
            </a:pPr>
            <a:r>
              <a:rPr sz="1575" b="0">
                <a:solidFill>
                  <a:srgbClr val="C6CBD0"/>
                </a:solidFill>
                <a:latin typeface="Arial"/>
                <a:ea typeface="Arial"/>
                <a:cs typeface="Arial"/>
              </a:rPr>
              <a:t>Not evidence of causation or a direct reason to stop medicines</a:t>
            </a:r>
          </a:p>
        </p:txBody>
      </p:sp>
      <p:sp>
        <p:nvSpPr>
          <p:cNvPr id="7" name="Rectangle 6">
            <a:extLst>
              <a:ext uri="{FF2B5EF4-FFF2-40B4-BE49-F238E27FC236}">
                <a16:creationId xmlns:a16="http://schemas.microsoft.com/office/drawing/2014/main" id="{2F9D48B3-AB65-400C-81E3-760C23528DD6}"/>
              </a:ext>
            </a:extLst>
          </p:cNvPr>
          <p:cNvSpPr>
            <a:spLocks noGrp="1"/>
          </p:cNvSpPr>
          <p:nvPr/>
        </p:nvSpPr>
        <p:spPr>
          <a:xfrm>
            <a:off x="8858250" y="5257800"/>
            <a:ext cx="2667000" cy="666750"/>
          </a:xfrm>
          <a:prstGeom prst="rect">
            <a:avLst/>
          </a:prstGeom>
          <a:noFill/>
          <a:ln w="0">
            <a:noFill/>
            <a:prstDash val="solid"/>
          </a:ln>
        </p:spPr>
        <p:txBody>
          <a:bodyPr anchor="t"/>
          <a:lstStyle/>
          <a:p>
            <a:pPr algn="r">
              <a:defRPr sz="3600" b="1">
                <a:solidFill>
                  <a:srgbClr val="FFFFFF"/>
                </a:solidFill>
                <a:latin typeface="Arial"/>
                <a:ea typeface="Arial"/>
                <a:cs typeface="Arial"/>
              </a:defRPr>
            </a:pPr>
            <a:r>
              <a:rPr sz="3600" b="1">
                <a:solidFill>
                  <a:srgbClr val="FFFFFF"/>
                </a:solidFill>
                <a:latin typeface="Arial"/>
                <a:ea typeface="Arial"/>
                <a:cs typeface="Arial"/>
              </a:rPr>
              <a:t>Questions</a:t>
            </a:r>
          </a:p>
        </p:txBody>
      </p:sp>
      <p:sp>
        <p:nvSpPr>
          <p:cNvPr id="8" name="Rectangle 7">
            <a:extLst>
              <a:ext uri="{FF2B5EF4-FFF2-40B4-BE49-F238E27FC236}">
                <a16:creationId xmlns:a16="http://schemas.microsoft.com/office/drawing/2014/main" id="{CB5FFAF5-64BF-4622-AEDA-9A5A116BFB51}"/>
              </a:ext>
            </a:extLst>
          </p:cNvPr>
          <p:cNvSpPr>
            <a:spLocks noGrp="1"/>
          </p:cNvSpPr>
          <p:nvPr/>
        </p:nvSpPr>
        <p:spPr>
          <a:xfrm>
            <a:off x="8858250" y="6000750"/>
            <a:ext cx="2667000" cy="228600"/>
          </a:xfrm>
          <a:prstGeom prst="rect">
            <a:avLst/>
          </a:prstGeom>
          <a:noFill/>
          <a:ln w="0">
            <a:noFill/>
            <a:prstDash val="solid"/>
          </a:ln>
        </p:spPr>
        <p:txBody>
          <a:bodyPr anchor="t"/>
          <a:lstStyle/>
          <a:p>
            <a:pPr algn="r">
              <a:defRPr sz="1200" b="0">
                <a:solidFill>
                  <a:srgbClr val="6DCBF4"/>
                </a:solidFill>
                <a:latin typeface="Arial"/>
                <a:ea typeface="Arial"/>
                <a:cs typeface="Arial"/>
              </a:defRPr>
            </a:pPr>
            <a:r>
              <a:rPr sz="1200" b="0">
                <a:solidFill>
                  <a:srgbClr val="6DCBF4"/>
                </a:solidFill>
                <a:latin typeface="Arial"/>
                <a:ea typeface="Arial"/>
                <a:cs typeface="Arial"/>
              </a:rPr>
              <a:t>Jigneshbhai Siddhapura</a:t>
            </a:r>
          </a:p>
        </p:txBody>
      </p:sp>
    </p:spTree>
    <p:extLst>
      <p:ext uri="{BB962C8B-B14F-4D97-AF65-F5344CB8AC3E}">
        <p14:creationId xmlns:p14="http://schemas.microsoft.com/office/powerpoint/2010/main" val="1570158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11-title">
            <a:extLst>
              <a:ext uri="{FF2B5EF4-FFF2-40B4-BE49-F238E27FC236}">
                <a16:creationId xmlns:a16="http://schemas.microsoft.com/office/drawing/2014/main" id="{DC09863E-BF82-4BC1-9160-564865564204}"/>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Methods detail for questions</a:t>
            </a:r>
          </a:p>
        </p:txBody>
      </p:sp>
      <p:sp>
        <p:nvSpPr>
          <p:cNvPr id="2" name="slide-11-eyebrow">
            <a:extLst>
              <a:ext uri="{FF2B5EF4-FFF2-40B4-BE49-F238E27FC236}">
                <a16:creationId xmlns:a16="http://schemas.microsoft.com/office/drawing/2014/main" id="{19DB038E-5ECE-4AE1-AB3C-67DE6D9A83F1}"/>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BACKUP METHODS</a:t>
            </a:r>
          </a:p>
        </p:txBody>
      </p:sp>
      <p:sp>
        <p:nvSpPr>
          <p:cNvPr id="3" name="slide-11-number">
            <a:extLst>
              <a:ext uri="{FF2B5EF4-FFF2-40B4-BE49-F238E27FC236}">
                <a16:creationId xmlns:a16="http://schemas.microsoft.com/office/drawing/2014/main" id="{6E580D27-76EB-4B63-BCBF-A5CA0801C5B9}"/>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11</a:t>
            </a:r>
          </a:p>
        </p:txBody>
      </p:sp>
      <p:sp>
        <p:nvSpPr>
          <p:cNvPr id="4" name="Rectangle: Rounded Corners 3">
            <a:extLst>
              <a:ext uri="{FF2B5EF4-FFF2-40B4-BE49-F238E27FC236}">
                <a16:creationId xmlns:a16="http://schemas.microsoft.com/office/drawing/2014/main" id="{6E74633E-9C24-4DF7-96EC-2937D4125D3F}"/>
              </a:ext>
            </a:extLst>
          </p:cNvPr>
          <p:cNvSpPr>
            <a:spLocks noGrp="1"/>
          </p:cNvSpPr>
          <p:nvPr/>
        </p:nvSpPr>
        <p:spPr>
          <a:xfrm>
            <a:off x="10134600" y="285750"/>
            <a:ext cx="1466850" cy="323850"/>
          </a:xfrm>
          <a:prstGeom prst="roundRect">
            <a:avLst>
              <a:gd name="adj" fmla="val 41176"/>
            </a:avLst>
          </a:prstGeom>
          <a:solidFill>
            <a:srgbClr val="EAF5FB"/>
          </a:solidFill>
          <a:ln w="0">
            <a:noFill/>
            <a:prstDash val="solid"/>
          </a:ln>
        </p:spPr>
      </p:sp>
      <p:sp>
        <p:nvSpPr>
          <p:cNvPr id="5" name="Rectangle 4">
            <a:extLst>
              <a:ext uri="{FF2B5EF4-FFF2-40B4-BE49-F238E27FC236}">
                <a16:creationId xmlns:a16="http://schemas.microsoft.com/office/drawing/2014/main" id="{7EC3A69C-563E-4EFC-9751-5DCA22A8DF20}"/>
              </a:ext>
            </a:extLst>
          </p:cNvPr>
          <p:cNvSpPr>
            <a:spLocks noGrp="1"/>
          </p:cNvSpPr>
          <p:nvPr/>
        </p:nvSpPr>
        <p:spPr>
          <a:xfrm>
            <a:off x="10287000" y="352425"/>
            <a:ext cx="1162050" cy="190500"/>
          </a:xfrm>
          <a:prstGeom prst="rect">
            <a:avLst/>
          </a:prstGeom>
          <a:noFill/>
          <a:ln w="0">
            <a:noFill/>
            <a:prstDash val="solid"/>
          </a:ln>
        </p:spPr>
        <p:txBody>
          <a:bodyPr anchor="t"/>
          <a:lstStyle/>
          <a:p>
            <a:pPr algn="ctr">
              <a:defRPr sz="1125" b="1">
                <a:solidFill>
                  <a:srgbClr val="24597F"/>
                </a:solidFill>
                <a:latin typeface="Arial"/>
                <a:ea typeface="Arial"/>
                <a:cs typeface="Arial"/>
              </a:defRPr>
            </a:pPr>
            <a:r>
              <a:rPr sz="1125" b="1">
                <a:solidFill>
                  <a:srgbClr val="24597F"/>
                </a:solidFill>
                <a:latin typeface="Arial"/>
                <a:ea typeface="Arial"/>
                <a:cs typeface="Arial"/>
              </a:rPr>
              <a:t>BACKUP</a:t>
            </a:r>
          </a:p>
        </p:txBody>
      </p:sp>
      <p:sp>
        <p:nvSpPr>
          <p:cNvPr id="6" name="Rectangle 5">
            <a:extLst>
              <a:ext uri="{FF2B5EF4-FFF2-40B4-BE49-F238E27FC236}">
                <a16:creationId xmlns:a16="http://schemas.microsoft.com/office/drawing/2014/main" id="{9D065C63-139D-4316-A85B-B84BC33F795D}"/>
              </a:ext>
            </a:extLst>
          </p:cNvPr>
          <p:cNvSpPr>
            <a:spLocks noGrp="1"/>
          </p:cNvSpPr>
          <p:nvPr/>
        </p:nvSpPr>
        <p:spPr>
          <a:xfrm>
            <a:off x="400050" y="1428750"/>
            <a:ext cx="3571875" cy="3981450"/>
          </a:xfrm>
          <a:prstGeom prst="rect">
            <a:avLst/>
          </a:prstGeom>
          <a:solidFill>
            <a:srgbClr val="F6F7F8"/>
          </a:solidFill>
          <a:ln w="0">
            <a:noFill/>
            <a:prstDash val="solid"/>
          </a:ln>
        </p:spPr>
      </p:sp>
      <p:sp>
        <p:nvSpPr>
          <p:cNvPr id="7" name="Rectangle 6">
            <a:extLst>
              <a:ext uri="{FF2B5EF4-FFF2-40B4-BE49-F238E27FC236}">
                <a16:creationId xmlns:a16="http://schemas.microsoft.com/office/drawing/2014/main" id="{CEBA2F8B-38AF-40EB-AC62-DC8955FD9DFB}"/>
              </a:ext>
            </a:extLst>
          </p:cNvPr>
          <p:cNvSpPr>
            <a:spLocks noGrp="1"/>
          </p:cNvSpPr>
          <p:nvPr/>
        </p:nvSpPr>
        <p:spPr>
          <a:xfrm>
            <a:off x="685800" y="1733550"/>
            <a:ext cx="3000375" cy="381000"/>
          </a:xfrm>
          <a:prstGeom prst="rect">
            <a:avLst/>
          </a:prstGeom>
          <a:noFill/>
          <a:ln w="0">
            <a:noFill/>
            <a:prstDash val="solid"/>
          </a:ln>
        </p:spPr>
        <p:txBody>
          <a:bodyPr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Covariates</a:t>
            </a:r>
          </a:p>
        </p:txBody>
      </p:sp>
      <p:sp>
        <p:nvSpPr>
          <p:cNvPr id="8" name="Rectangle 7">
            <a:extLst>
              <a:ext uri="{FF2B5EF4-FFF2-40B4-BE49-F238E27FC236}">
                <a16:creationId xmlns:a16="http://schemas.microsoft.com/office/drawing/2014/main" id="{83C4539B-EBE6-42C2-B1FD-0FF8C88C0D9A}"/>
              </a:ext>
            </a:extLst>
          </p:cNvPr>
          <p:cNvSpPr>
            <a:spLocks noGrp="1"/>
          </p:cNvSpPr>
          <p:nvPr/>
        </p:nvSpPr>
        <p:spPr>
          <a:xfrm>
            <a:off x="685800" y="2419350"/>
            <a:ext cx="3000375" cy="247650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Age</a:t>
            </a:r>
          </a:p>
          <a:p>
            <a:pPr algn="l">
              <a:defRPr sz="1575" b="0">
                <a:solidFill>
                  <a:srgbClr val="5D6670"/>
                </a:solidFill>
                <a:latin typeface="Arial"/>
                <a:ea typeface="Arial"/>
                <a:cs typeface="Arial"/>
              </a:defRPr>
            </a:pPr>
            <a:r>
              <a:rPr sz="1575" b="0">
                <a:solidFill>
                  <a:srgbClr val="5D6670"/>
                </a:solidFill>
                <a:latin typeface="Arial"/>
                <a:ea typeface="Arial"/>
                <a:cs typeface="Arial"/>
              </a:rPr>
              <a:t>Sex</a:t>
            </a:r>
          </a:p>
          <a:p>
            <a:pPr algn="l">
              <a:defRPr sz="1575" b="0">
                <a:solidFill>
                  <a:srgbClr val="5D6670"/>
                </a:solidFill>
                <a:latin typeface="Arial"/>
                <a:ea typeface="Arial"/>
                <a:cs typeface="Arial"/>
              </a:defRPr>
            </a:pPr>
            <a:r>
              <a:rPr sz="1575" b="0">
                <a:solidFill>
                  <a:srgbClr val="5D6670"/>
                </a:solidFill>
                <a:latin typeface="Arial"/>
                <a:ea typeface="Arial"/>
                <a:cs typeface="Arial"/>
              </a:rPr>
              <a:t>Race/ethnicity</a:t>
            </a:r>
          </a:p>
          <a:p>
            <a:pPr algn="l">
              <a:defRPr sz="1575" b="0">
                <a:solidFill>
                  <a:srgbClr val="5D6670"/>
                </a:solidFill>
                <a:latin typeface="Arial"/>
                <a:ea typeface="Arial"/>
                <a:cs typeface="Arial"/>
              </a:defRPr>
            </a:pPr>
            <a:r>
              <a:rPr sz="1575" b="0">
                <a:solidFill>
                  <a:srgbClr val="5D6670"/>
                </a:solidFill>
                <a:latin typeface="Arial"/>
                <a:ea typeface="Arial"/>
                <a:cs typeface="Arial"/>
              </a:rPr>
              <a:t>Education</a:t>
            </a:r>
          </a:p>
          <a:p>
            <a:pPr algn="l">
              <a:defRPr sz="1575" b="0">
                <a:solidFill>
                  <a:srgbClr val="5D6670"/>
                </a:solidFill>
                <a:latin typeface="Arial"/>
                <a:ea typeface="Arial"/>
                <a:cs typeface="Arial"/>
              </a:defRPr>
            </a:pPr>
            <a:r>
              <a:rPr sz="1575" b="0">
                <a:solidFill>
                  <a:srgbClr val="5D6670"/>
                </a:solidFill>
                <a:latin typeface="Arial"/>
                <a:ea typeface="Arial"/>
                <a:cs typeface="Arial"/>
              </a:rPr>
              <a:t>Income-to-poverty ratio</a:t>
            </a:r>
          </a:p>
        </p:txBody>
      </p:sp>
      <p:sp>
        <p:nvSpPr>
          <p:cNvPr id="9" name="Rectangle 8">
            <a:extLst>
              <a:ext uri="{FF2B5EF4-FFF2-40B4-BE49-F238E27FC236}">
                <a16:creationId xmlns:a16="http://schemas.microsoft.com/office/drawing/2014/main" id="{87A48127-D132-452A-ADEF-9FB8FC281E3E}"/>
              </a:ext>
            </a:extLst>
          </p:cNvPr>
          <p:cNvSpPr>
            <a:spLocks noGrp="1"/>
          </p:cNvSpPr>
          <p:nvPr/>
        </p:nvSpPr>
        <p:spPr>
          <a:xfrm>
            <a:off x="4314825" y="1428750"/>
            <a:ext cx="3571875" cy="3981450"/>
          </a:xfrm>
          <a:prstGeom prst="rect">
            <a:avLst/>
          </a:prstGeom>
          <a:solidFill>
            <a:srgbClr val="F6F7F8"/>
          </a:solidFill>
          <a:ln w="0">
            <a:noFill/>
            <a:prstDash val="solid"/>
          </a:ln>
        </p:spPr>
      </p:sp>
      <p:sp>
        <p:nvSpPr>
          <p:cNvPr id="10" name="Rectangle 9">
            <a:extLst>
              <a:ext uri="{FF2B5EF4-FFF2-40B4-BE49-F238E27FC236}">
                <a16:creationId xmlns:a16="http://schemas.microsoft.com/office/drawing/2014/main" id="{1751397C-DFCD-4A94-BF25-EBE2ED67F5F2}"/>
              </a:ext>
            </a:extLst>
          </p:cNvPr>
          <p:cNvSpPr>
            <a:spLocks noGrp="1"/>
          </p:cNvSpPr>
          <p:nvPr/>
        </p:nvSpPr>
        <p:spPr>
          <a:xfrm>
            <a:off x="4600575" y="1733550"/>
            <a:ext cx="3000375" cy="381000"/>
          </a:xfrm>
          <a:prstGeom prst="rect">
            <a:avLst/>
          </a:prstGeom>
          <a:noFill/>
          <a:ln w="0">
            <a:noFill/>
            <a:prstDash val="solid"/>
          </a:ln>
        </p:spPr>
        <p:txBody>
          <a:bodyPr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Comorbidities</a:t>
            </a:r>
          </a:p>
        </p:txBody>
      </p:sp>
      <p:sp>
        <p:nvSpPr>
          <p:cNvPr id="11" name="Rectangle 10">
            <a:extLst>
              <a:ext uri="{FF2B5EF4-FFF2-40B4-BE49-F238E27FC236}">
                <a16:creationId xmlns:a16="http://schemas.microsoft.com/office/drawing/2014/main" id="{7FB59732-FDB6-477B-B7E5-AD64D6E8F20A}"/>
              </a:ext>
            </a:extLst>
          </p:cNvPr>
          <p:cNvSpPr>
            <a:spLocks noGrp="1"/>
          </p:cNvSpPr>
          <p:nvPr/>
        </p:nvSpPr>
        <p:spPr>
          <a:xfrm>
            <a:off x="4600575" y="2419350"/>
            <a:ext cx="3000375" cy="247650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Stroke</a:t>
            </a:r>
          </a:p>
          <a:p>
            <a:pPr algn="l">
              <a:defRPr sz="1575" b="0">
                <a:solidFill>
                  <a:srgbClr val="5D6670"/>
                </a:solidFill>
                <a:latin typeface="Arial"/>
                <a:ea typeface="Arial"/>
                <a:cs typeface="Arial"/>
              </a:defRPr>
            </a:pPr>
            <a:r>
              <a:rPr sz="1575" b="0">
                <a:solidFill>
                  <a:srgbClr val="5D6670"/>
                </a:solidFill>
                <a:latin typeface="Arial"/>
                <a:ea typeface="Arial"/>
                <a:cs typeface="Arial"/>
              </a:rPr>
              <a:t>Cardiovascular disease</a:t>
            </a:r>
          </a:p>
          <a:p>
            <a:pPr algn="l">
              <a:defRPr sz="1575" b="0">
                <a:solidFill>
                  <a:srgbClr val="5D6670"/>
                </a:solidFill>
                <a:latin typeface="Arial"/>
                <a:ea typeface="Arial"/>
                <a:cs typeface="Arial"/>
              </a:defRPr>
            </a:pPr>
            <a:r>
              <a:rPr sz="1575" b="0">
                <a:solidFill>
                  <a:srgbClr val="5D6670"/>
                </a:solidFill>
                <a:latin typeface="Arial"/>
                <a:ea typeface="Arial"/>
                <a:cs typeface="Arial"/>
              </a:rPr>
              <a:t>Diabetes</a:t>
            </a:r>
          </a:p>
          <a:p>
            <a:pPr algn="l">
              <a:defRPr sz="1575" b="0">
                <a:solidFill>
                  <a:srgbClr val="5D6670"/>
                </a:solidFill>
                <a:latin typeface="Arial"/>
                <a:ea typeface="Arial"/>
                <a:cs typeface="Arial"/>
              </a:defRPr>
            </a:pPr>
            <a:r>
              <a:rPr sz="1575" b="0">
                <a:solidFill>
                  <a:srgbClr val="5D6670"/>
                </a:solidFill>
                <a:latin typeface="Arial"/>
                <a:ea typeface="Arial"/>
                <a:cs typeface="Arial"/>
              </a:rPr>
              <a:t>Depression</a:t>
            </a:r>
          </a:p>
          <a:p>
            <a:pPr algn="l">
              <a:defRPr sz="1575" b="0">
                <a:solidFill>
                  <a:srgbClr val="5D6670"/>
                </a:solidFill>
                <a:latin typeface="Arial"/>
                <a:ea typeface="Arial"/>
                <a:cs typeface="Arial"/>
              </a:defRPr>
            </a:pPr>
            <a:r>
              <a:rPr sz="1575" b="0">
                <a:solidFill>
                  <a:srgbClr val="5D6670"/>
                </a:solidFill>
                <a:latin typeface="Arial"/>
                <a:ea typeface="Arial"/>
                <a:cs typeface="Arial"/>
              </a:rPr>
              <a:t>Self-rated health</a:t>
            </a:r>
          </a:p>
        </p:txBody>
      </p:sp>
      <p:sp>
        <p:nvSpPr>
          <p:cNvPr id="12" name="Rectangle 11">
            <a:extLst>
              <a:ext uri="{FF2B5EF4-FFF2-40B4-BE49-F238E27FC236}">
                <a16:creationId xmlns:a16="http://schemas.microsoft.com/office/drawing/2014/main" id="{360249F8-7BEC-405A-979B-6C417AC25427}"/>
              </a:ext>
            </a:extLst>
          </p:cNvPr>
          <p:cNvSpPr>
            <a:spLocks noGrp="1"/>
          </p:cNvSpPr>
          <p:nvPr/>
        </p:nvSpPr>
        <p:spPr>
          <a:xfrm>
            <a:off x="8229600" y="1428750"/>
            <a:ext cx="3571875" cy="3981450"/>
          </a:xfrm>
          <a:prstGeom prst="rect">
            <a:avLst/>
          </a:prstGeom>
          <a:solidFill>
            <a:srgbClr val="EAF5FB"/>
          </a:solidFill>
          <a:ln w="0">
            <a:noFill/>
            <a:prstDash val="solid"/>
          </a:ln>
        </p:spPr>
      </p:sp>
      <p:sp>
        <p:nvSpPr>
          <p:cNvPr id="13" name="Rectangle 12">
            <a:extLst>
              <a:ext uri="{FF2B5EF4-FFF2-40B4-BE49-F238E27FC236}">
                <a16:creationId xmlns:a16="http://schemas.microsoft.com/office/drawing/2014/main" id="{A6645B75-B9EE-47A8-87F2-FDA7AC27A265}"/>
              </a:ext>
            </a:extLst>
          </p:cNvPr>
          <p:cNvSpPr>
            <a:spLocks noGrp="1"/>
          </p:cNvSpPr>
          <p:nvPr/>
        </p:nvSpPr>
        <p:spPr>
          <a:xfrm>
            <a:off x="8515350" y="1733550"/>
            <a:ext cx="3000375" cy="381000"/>
          </a:xfrm>
          <a:prstGeom prst="rect">
            <a:avLst/>
          </a:prstGeom>
          <a:noFill/>
          <a:ln w="0">
            <a:noFill/>
            <a:prstDash val="solid"/>
          </a:ln>
        </p:spPr>
        <p:txBody>
          <a:bodyPr anchor="t"/>
          <a:lstStyle/>
          <a:p>
            <a:pPr algn="l">
              <a:defRPr sz="1950" b="1">
                <a:solidFill>
                  <a:srgbClr val="24597F"/>
                </a:solidFill>
                <a:latin typeface="Arial"/>
                <a:ea typeface="Arial"/>
                <a:cs typeface="Arial"/>
              </a:defRPr>
            </a:pPr>
            <a:r>
              <a:rPr sz="1950" b="1">
                <a:solidFill>
                  <a:srgbClr val="24597F"/>
                </a:solidFill>
                <a:latin typeface="Arial"/>
                <a:ea typeface="Arial"/>
                <a:cs typeface="Arial"/>
              </a:rPr>
              <a:t>Sensitivity analyses</a:t>
            </a:r>
          </a:p>
        </p:txBody>
      </p:sp>
      <p:sp>
        <p:nvSpPr>
          <p:cNvPr id="14" name="Rectangle 13">
            <a:extLst>
              <a:ext uri="{FF2B5EF4-FFF2-40B4-BE49-F238E27FC236}">
                <a16:creationId xmlns:a16="http://schemas.microsoft.com/office/drawing/2014/main" id="{DB94B252-2E9C-4772-907D-62525BF95B8E}"/>
              </a:ext>
            </a:extLst>
          </p:cNvPr>
          <p:cNvSpPr>
            <a:spLocks noGrp="1"/>
          </p:cNvSpPr>
          <p:nvPr/>
        </p:nvSpPr>
        <p:spPr>
          <a:xfrm>
            <a:off x="8515350" y="2419350"/>
            <a:ext cx="3000375" cy="2476500"/>
          </a:xfrm>
          <a:prstGeom prst="rect">
            <a:avLst/>
          </a:prstGeom>
          <a:noFill/>
          <a:ln w="0">
            <a:noFill/>
            <a:prstDash val="solid"/>
          </a:ln>
        </p:spPr>
        <p:txBody>
          <a:bodyPr anchor="t"/>
          <a:lstStyle/>
          <a:p>
            <a:pPr algn="l">
              <a:defRPr sz="1575" b="0">
                <a:solidFill>
                  <a:srgbClr val="5D6670"/>
                </a:solidFill>
                <a:latin typeface="Arial"/>
                <a:ea typeface="Arial"/>
                <a:cs typeface="Arial"/>
              </a:defRPr>
            </a:pPr>
            <a:r>
              <a:rPr sz="1575" b="0">
                <a:solidFill>
                  <a:srgbClr val="5D6670"/>
                </a:solidFill>
                <a:latin typeface="Arial"/>
                <a:ea typeface="Arial"/>
                <a:cs typeface="Arial"/>
              </a:rPr>
              <a:t>Inverse-probability weighting</a:t>
            </a:r>
          </a:p>
          <a:p>
            <a:pPr algn="l">
              <a:defRPr sz="1575" b="0">
                <a:solidFill>
                  <a:srgbClr val="5D6670"/>
                </a:solidFill>
                <a:latin typeface="Arial"/>
                <a:ea typeface="Arial"/>
                <a:cs typeface="Arial"/>
              </a:defRPr>
            </a:pPr>
            <a:r>
              <a:rPr sz="1575" b="0">
                <a:solidFill>
                  <a:srgbClr val="5D6670"/>
                </a:solidFill>
                <a:latin typeface="Arial"/>
                <a:ea typeface="Arial"/>
                <a:cs typeface="Arial"/>
              </a:rPr>
              <a:t>Prior-stroke exclusion</a:t>
            </a:r>
          </a:p>
          <a:p>
            <a:pPr algn="l">
              <a:defRPr sz="1575" b="0">
                <a:solidFill>
                  <a:srgbClr val="5D6670"/>
                </a:solidFill>
                <a:latin typeface="Arial"/>
                <a:ea typeface="Arial"/>
                <a:cs typeface="Arial"/>
              </a:defRPr>
            </a:pPr>
            <a:r>
              <a:rPr sz="1575" b="0">
                <a:solidFill>
                  <a:srgbClr val="5D6670"/>
                </a:solidFill>
                <a:latin typeface="Arial"/>
                <a:ea typeface="Arial"/>
                <a:cs typeface="Arial"/>
              </a:rPr>
              <a:t>IACB rescoring</a:t>
            </a:r>
          </a:p>
          <a:p>
            <a:pPr algn="l">
              <a:defRPr sz="1575" b="0">
                <a:solidFill>
                  <a:srgbClr val="5D6670"/>
                </a:solidFill>
                <a:latin typeface="Arial"/>
                <a:ea typeface="Arial"/>
                <a:cs typeface="Arial"/>
              </a:defRPr>
            </a:pPr>
            <a:r>
              <a:rPr sz="1575" b="0">
                <a:solidFill>
                  <a:srgbClr val="5D6670"/>
                </a:solidFill>
                <a:latin typeface="Arial"/>
                <a:ea typeface="Arial"/>
                <a:cs typeface="Arial"/>
              </a:rPr>
              <a:t>Burden categories</a:t>
            </a:r>
          </a:p>
          <a:p>
            <a:pPr algn="l">
              <a:defRPr sz="1575" b="0">
                <a:solidFill>
                  <a:srgbClr val="5D6670"/>
                </a:solidFill>
                <a:latin typeface="Arial"/>
                <a:ea typeface="Arial"/>
                <a:cs typeface="Arial"/>
              </a:defRPr>
            </a:pPr>
            <a:r>
              <a:rPr sz="1575" b="0">
                <a:solidFill>
                  <a:srgbClr val="5D6670"/>
                </a:solidFill>
                <a:latin typeface="Arial"/>
                <a:ea typeface="Arial"/>
                <a:cs typeface="Arial"/>
              </a:rPr>
              <a:t>High-potency drug count</a:t>
            </a:r>
          </a:p>
        </p:txBody>
      </p:sp>
      <p:sp>
        <p:nvSpPr>
          <p:cNvPr id="15" name="Rectangle 14">
            <a:extLst>
              <a:ext uri="{FF2B5EF4-FFF2-40B4-BE49-F238E27FC236}">
                <a16:creationId xmlns:a16="http://schemas.microsoft.com/office/drawing/2014/main" id="{1405B3D1-50A2-4BE9-8F7A-C13710A464F4}"/>
              </a:ext>
            </a:extLst>
          </p:cNvPr>
          <p:cNvSpPr>
            <a:spLocks noGrp="1"/>
          </p:cNvSpPr>
          <p:nvPr/>
        </p:nvSpPr>
        <p:spPr>
          <a:xfrm>
            <a:off x="400050" y="5810250"/>
            <a:ext cx="10668000" cy="323850"/>
          </a:xfrm>
          <a:prstGeom prst="rect">
            <a:avLst/>
          </a:prstGeom>
          <a:noFill/>
          <a:ln w="0">
            <a:noFill/>
            <a:prstDash val="solid"/>
          </a:ln>
        </p:spPr>
        <p:txBody>
          <a:bodyPr anchor="t"/>
          <a:lstStyle/>
          <a:p>
            <a:pPr algn="l">
              <a:defRPr sz="1650" b="1">
                <a:solidFill>
                  <a:srgbClr val="111111"/>
                </a:solidFill>
                <a:latin typeface="Arial"/>
                <a:ea typeface="Arial"/>
                <a:cs typeface="Arial"/>
              </a:defRPr>
            </a:pPr>
            <a:r>
              <a:rPr sz="1650" b="1">
                <a:solidFill>
                  <a:srgbClr val="111111"/>
                </a:solidFill>
                <a:latin typeface="Arial"/>
                <a:ea typeface="Arial"/>
                <a:cs typeface="Arial"/>
              </a:rPr>
              <a:t>Primary outcome: DSST  |  Secondary outcome: animal fluency</a:t>
            </a:r>
          </a:p>
        </p:txBody>
      </p:sp>
    </p:spTree>
    <p:extLst>
      <p:ext uri="{BB962C8B-B14F-4D97-AF65-F5344CB8AC3E}">
        <p14:creationId xmlns:p14="http://schemas.microsoft.com/office/powerpoint/2010/main" val="80326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12-title">
            <a:extLst>
              <a:ext uri="{FF2B5EF4-FFF2-40B4-BE49-F238E27FC236}">
                <a16:creationId xmlns:a16="http://schemas.microsoft.com/office/drawing/2014/main" id="{35511645-4D81-4C37-8C9E-A6CD0D7CB62D}"/>
              </a:ext>
            </a:extLst>
          </p:cNvPr>
          <p:cNvSpPr>
            <a:spLocks noGrp="1"/>
          </p:cNvSpPr>
          <p:nvPr/>
        </p:nvSpPr>
        <p:spPr>
          <a:xfrm>
            <a:off x="400050" y="323850"/>
            <a:ext cx="10668000" cy="6477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Why the 2011-12 intervals were wider</a:t>
            </a:r>
          </a:p>
        </p:txBody>
      </p:sp>
      <p:sp>
        <p:nvSpPr>
          <p:cNvPr id="2" name="slide-12-eyebrow">
            <a:extLst>
              <a:ext uri="{FF2B5EF4-FFF2-40B4-BE49-F238E27FC236}">
                <a16:creationId xmlns:a16="http://schemas.microsoft.com/office/drawing/2014/main" id="{4058042B-0A58-47D4-A91D-5F8F3839CE7E}"/>
              </a:ext>
            </a:extLst>
          </p:cNvPr>
          <p:cNvSpPr>
            <a:spLocks noGrp="1"/>
          </p:cNvSpPr>
          <p:nvPr/>
        </p:nvSpPr>
        <p:spPr>
          <a:xfrm>
            <a:off x="400050" y="114300"/>
            <a:ext cx="3429000" cy="190500"/>
          </a:xfrm>
          <a:prstGeom prst="rect">
            <a:avLst/>
          </a:prstGeom>
          <a:noFill/>
          <a:ln w="0">
            <a:noFill/>
            <a:prstDash val="solid"/>
          </a:ln>
        </p:spPr>
        <p:txBody>
          <a:bodyPr anchor="t"/>
          <a:lstStyle/>
          <a:p>
            <a:pPr algn="l">
              <a:defRPr sz="975" b="1">
                <a:solidFill>
                  <a:srgbClr val="2D78C8"/>
                </a:solidFill>
                <a:latin typeface="Arial"/>
                <a:ea typeface="Arial"/>
                <a:cs typeface="Arial"/>
              </a:defRPr>
            </a:pPr>
            <a:r>
              <a:rPr sz="975" b="1">
                <a:solidFill>
                  <a:srgbClr val="2D78C8"/>
                </a:solidFill>
                <a:latin typeface="Arial"/>
                <a:ea typeface="Arial"/>
                <a:cs typeface="Arial"/>
              </a:rPr>
              <a:t>BACKUP FOLLOW-UP</a:t>
            </a:r>
          </a:p>
        </p:txBody>
      </p:sp>
      <p:sp>
        <p:nvSpPr>
          <p:cNvPr id="3" name="slide-12-number">
            <a:extLst>
              <a:ext uri="{FF2B5EF4-FFF2-40B4-BE49-F238E27FC236}">
                <a16:creationId xmlns:a16="http://schemas.microsoft.com/office/drawing/2014/main" id="{E1D8A9CF-2F8E-4D69-AEBE-D6CDC0457492}"/>
              </a:ext>
            </a:extLst>
          </p:cNvPr>
          <p:cNvSpPr>
            <a:spLocks noGrp="1"/>
          </p:cNvSpPr>
          <p:nvPr/>
        </p:nvSpPr>
        <p:spPr>
          <a:xfrm>
            <a:off x="11334750" y="6334125"/>
            <a:ext cx="457200" cy="228600"/>
          </a:xfrm>
          <a:prstGeom prst="rect">
            <a:avLst/>
          </a:prstGeom>
          <a:noFill/>
          <a:ln w="0">
            <a:noFill/>
            <a:prstDash val="solid"/>
          </a:ln>
        </p:spPr>
        <p:txBody>
          <a:bodyPr anchor="t"/>
          <a:lstStyle/>
          <a:p>
            <a:pPr algn="r">
              <a:defRPr sz="975" b="0">
                <a:solidFill>
                  <a:srgbClr val="5D6670"/>
                </a:solidFill>
                <a:latin typeface="Arial"/>
                <a:ea typeface="Arial"/>
                <a:cs typeface="Arial"/>
              </a:defRPr>
            </a:pPr>
            <a:r>
              <a:rPr sz="975" b="0">
                <a:solidFill>
                  <a:srgbClr val="5D6670"/>
                </a:solidFill>
                <a:latin typeface="Arial"/>
                <a:ea typeface="Arial"/>
                <a:cs typeface="Arial"/>
              </a:rPr>
              <a:t>12</a:t>
            </a:r>
          </a:p>
        </p:txBody>
      </p:sp>
      <p:sp>
        <p:nvSpPr>
          <p:cNvPr id="4" name="Rectangle: Rounded Corners 3">
            <a:extLst>
              <a:ext uri="{FF2B5EF4-FFF2-40B4-BE49-F238E27FC236}">
                <a16:creationId xmlns:a16="http://schemas.microsoft.com/office/drawing/2014/main" id="{2DFA1C1D-3E55-4F01-9075-D2765E63A548}"/>
              </a:ext>
            </a:extLst>
          </p:cNvPr>
          <p:cNvSpPr>
            <a:spLocks noGrp="1"/>
          </p:cNvSpPr>
          <p:nvPr/>
        </p:nvSpPr>
        <p:spPr>
          <a:xfrm>
            <a:off x="10134600" y="285750"/>
            <a:ext cx="1466850" cy="323850"/>
          </a:xfrm>
          <a:prstGeom prst="roundRect">
            <a:avLst>
              <a:gd name="adj" fmla="val 41176"/>
            </a:avLst>
          </a:prstGeom>
          <a:solidFill>
            <a:srgbClr val="EAF5FB"/>
          </a:solidFill>
          <a:ln w="0">
            <a:noFill/>
            <a:prstDash val="solid"/>
          </a:ln>
        </p:spPr>
      </p:sp>
      <p:sp>
        <p:nvSpPr>
          <p:cNvPr id="5" name="Rectangle 4">
            <a:extLst>
              <a:ext uri="{FF2B5EF4-FFF2-40B4-BE49-F238E27FC236}">
                <a16:creationId xmlns:a16="http://schemas.microsoft.com/office/drawing/2014/main" id="{8DE534D5-0C68-48DF-906C-807B44CA0C1C}"/>
              </a:ext>
            </a:extLst>
          </p:cNvPr>
          <p:cNvSpPr>
            <a:spLocks noGrp="1"/>
          </p:cNvSpPr>
          <p:nvPr/>
        </p:nvSpPr>
        <p:spPr>
          <a:xfrm>
            <a:off x="10287000" y="352425"/>
            <a:ext cx="1162050" cy="190500"/>
          </a:xfrm>
          <a:prstGeom prst="rect">
            <a:avLst/>
          </a:prstGeom>
          <a:noFill/>
          <a:ln w="0">
            <a:noFill/>
            <a:prstDash val="solid"/>
          </a:ln>
        </p:spPr>
        <p:txBody>
          <a:bodyPr anchor="t"/>
          <a:lstStyle/>
          <a:p>
            <a:pPr algn="ctr">
              <a:defRPr sz="1125" b="1">
                <a:solidFill>
                  <a:srgbClr val="24597F"/>
                </a:solidFill>
                <a:latin typeface="Arial"/>
                <a:ea typeface="Arial"/>
                <a:cs typeface="Arial"/>
              </a:defRPr>
            </a:pPr>
            <a:r>
              <a:rPr sz="1125" b="1">
                <a:solidFill>
                  <a:srgbClr val="24597F"/>
                </a:solidFill>
                <a:latin typeface="Arial"/>
                <a:ea typeface="Arial"/>
                <a:cs typeface="Arial"/>
              </a:rPr>
              <a:t>BACKUP</a:t>
            </a:r>
          </a:p>
        </p:txBody>
      </p:sp>
      <p:sp>
        <p:nvSpPr>
          <p:cNvPr id="6" name="Rectangle 5">
            <a:extLst>
              <a:ext uri="{FF2B5EF4-FFF2-40B4-BE49-F238E27FC236}">
                <a16:creationId xmlns:a16="http://schemas.microsoft.com/office/drawing/2014/main" id="{C4E5352B-1CC4-4558-95BA-E158FB7F051E}"/>
              </a:ext>
            </a:extLst>
          </p:cNvPr>
          <p:cNvSpPr>
            <a:spLocks noGrp="1"/>
          </p:cNvSpPr>
          <p:nvPr/>
        </p:nvSpPr>
        <p:spPr>
          <a:xfrm>
            <a:off x="400050" y="1123950"/>
            <a:ext cx="7620000" cy="342900"/>
          </a:xfrm>
          <a:prstGeom prst="rect">
            <a:avLst/>
          </a:prstGeom>
          <a:noFill/>
          <a:ln w="0">
            <a:noFill/>
            <a:prstDash val="solid"/>
          </a:ln>
        </p:spPr>
        <p:txBody>
          <a:bodyPr anchor="t"/>
          <a:lstStyle/>
          <a:p>
            <a:pPr algn="l">
              <a:defRPr sz="1725" b="0">
                <a:solidFill>
                  <a:srgbClr val="5D6670"/>
                </a:solidFill>
                <a:latin typeface="Arial"/>
                <a:ea typeface="Arial"/>
                <a:cs typeface="Arial"/>
              </a:defRPr>
            </a:pPr>
            <a:r>
              <a:rPr sz="1725" b="0">
                <a:solidFill>
                  <a:srgbClr val="5D6670"/>
                </a:solidFill>
                <a:latin typeface="Arial"/>
                <a:ea typeface="Arial"/>
                <a:cs typeface="Arial"/>
              </a:rPr>
              <a:t>Follow-up audit of the M4 sample</a:t>
            </a:r>
          </a:p>
        </p:txBody>
      </p:sp>
      <p:sp>
        <p:nvSpPr>
          <p:cNvPr id="7" name="Rectangle 6">
            <a:extLst>
              <a:ext uri="{FF2B5EF4-FFF2-40B4-BE49-F238E27FC236}">
                <a16:creationId xmlns:a16="http://schemas.microsoft.com/office/drawing/2014/main" id="{592C23E8-F650-4495-BEA5-B37DCDF1F58C}"/>
              </a:ext>
            </a:extLst>
          </p:cNvPr>
          <p:cNvSpPr>
            <a:spLocks noGrp="1"/>
          </p:cNvSpPr>
          <p:nvPr/>
        </p:nvSpPr>
        <p:spPr>
          <a:xfrm>
            <a:off x="402336" y="1866900"/>
            <a:ext cx="2642616" cy="2381250"/>
          </a:xfrm>
          <a:prstGeom prst="rect">
            <a:avLst/>
          </a:prstGeom>
          <a:solidFill>
            <a:srgbClr val="F6F7F8"/>
          </a:solidFill>
          <a:ln w="0">
            <a:noFill/>
            <a:prstDash val="solid"/>
          </a:ln>
        </p:spPr>
      </p:sp>
      <p:sp>
        <p:nvSpPr>
          <p:cNvPr id="8" name="Rectangle 7">
            <a:extLst>
              <a:ext uri="{FF2B5EF4-FFF2-40B4-BE49-F238E27FC236}">
                <a16:creationId xmlns:a16="http://schemas.microsoft.com/office/drawing/2014/main" id="{6D21A1BA-A233-4A91-AACF-C3B42DA4AF5C}"/>
              </a:ext>
            </a:extLst>
          </p:cNvPr>
          <p:cNvSpPr>
            <a:spLocks noGrp="1"/>
          </p:cNvSpPr>
          <p:nvPr/>
        </p:nvSpPr>
        <p:spPr>
          <a:xfrm>
            <a:off x="557784" y="2194560"/>
            <a:ext cx="2331720" cy="1051560"/>
          </a:xfrm>
          <a:prstGeom prst="rect">
            <a:avLst/>
          </a:prstGeom>
          <a:noFill/>
          <a:ln w="0">
            <a:noFill/>
            <a:prstDash val="solid"/>
          </a:ln>
        </p:spPr>
        <p:txBody>
          <a:bodyPr anchor="ctr"/>
          <a:lstStyle/>
          <a:p>
            <a:pPr algn="ctr">
              <a:defRPr sz="3600" b="1">
                <a:solidFill>
                  <a:srgbClr val="2D78C8"/>
                </a:solidFill>
                <a:latin typeface="Arial"/>
                <a:ea typeface="Arial"/>
                <a:cs typeface="Arial"/>
              </a:defRPr>
            </a:pPr>
            <a:r>
              <a:rPr sz="3600" b="1">
                <a:solidFill>
                  <a:srgbClr val="2D78C8"/>
                </a:solidFill>
                <a:latin typeface="Arial"/>
                <a:ea typeface="Arial"/>
                <a:cs typeface="Arial"/>
              </a:rPr>
              <a:t>1,288</a:t>
            </a:r>
          </a:p>
        </p:txBody>
      </p:sp>
      <p:sp>
        <p:nvSpPr>
          <p:cNvPr id="9" name="Rectangle 8">
            <a:extLst>
              <a:ext uri="{FF2B5EF4-FFF2-40B4-BE49-F238E27FC236}">
                <a16:creationId xmlns:a16="http://schemas.microsoft.com/office/drawing/2014/main" id="{1215EBAC-28ED-49B6-BC4C-209D0F7CDB0D}"/>
              </a:ext>
            </a:extLst>
          </p:cNvPr>
          <p:cNvSpPr>
            <a:spLocks noGrp="1"/>
          </p:cNvSpPr>
          <p:nvPr/>
        </p:nvSpPr>
        <p:spPr>
          <a:xfrm>
            <a:off x="557784" y="3310128"/>
            <a:ext cx="2331720" cy="647700"/>
          </a:xfrm>
          <a:prstGeom prst="rect">
            <a:avLst/>
          </a:prstGeom>
          <a:noFill/>
          <a:ln w="0">
            <a:noFill/>
            <a:prstDash val="solid"/>
          </a:ln>
        </p:spPr>
        <p:txBody>
          <a:bodyPr anchor="t"/>
          <a:lstStyle/>
          <a:p>
            <a:pPr algn="ctr">
              <a:defRPr sz="1500" b="0">
                <a:solidFill>
                  <a:srgbClr val="5D6670"/>
                </a:solidFill>
                <a:latin typeface="Arial"/>
                <a:ea typeface="Arial"/>
                <a:cs typeface="Arial"/>
              </a:defRPr>
            </a:pPr>
            <a:r>
              <a:rPr sz="1500" b="0">
                <a:solidFill>
                  <a:srgbClr val="5D6670"/>
                </a:solidFill>
                <a:latin typeface="Arial"/>
                <a:ea typeface="Arial"/>
                <a:cs typeface="Arial"/>
              </a:rPr>
              <a:t>participants</a:t>
            </a:r>
          </a:p>
          <a:p>
            <a:pPr algn="ctr">
              <a:defRPr sz="1500" b="0">
                <a:solidFill>
                  <a:srgbClr val="5D6670"/>
                </a:solidFill>
                <a:latin typeface="Arial"/>
                <a:ea typeface="Arial"/>
                <a:cs typeface="Arial"/>
              </a:defRPr>
            </a:pPr>
            <a:r>
              <a:rPr sz="1500" b="0">
                <a:solidFill>
                  <a:srgbClr val="5D6670"/>
                </a:solidFill>
                <a:latin typeface="Arial"/>
                <a:ea typeface="Arial"/>
                <a:cs typeface="Arial"/>
              </a:rPr>
              <a:t>in M4</a:t>
            </a:r>
          </a:p>
        </p:txBody>
      </p:sp>
      <p:sp>
        <p:nvSpPr>
          <p:cNvPr id="10" name="Rectangle 9">
            <a:extLst>
              <a:ext uri="{FF2B5EF4-FFF2-40B4-BE49-F238E27FC236}">
                <a16:creationId xmlns:a16="http://schemas.microsoft.com/office/drawing/2014/main" id="{02D2D726-C917-4737-949D-746BF0859507}"/>
              </a:ext>
            </a:extLst>
          </p:cNvPr>
          <p:cNvSpPr>
            <a:spLocks noGrp="1"/>
          </p:cNvSpPr>
          <p:nvPr/>
        </p:nvSpPr>
        <p:spPr>
          <a:xfrm>
            <a:off x="3319272" y="1866900"/>
            <a:ext cx="2642616" cy="2381250"/>
          </a:xfrm>
          <a:prstGeom prst="rect">
            <a:avLst/>
          </a:prstGeom>
          <a:solidFill>
            <a:srgbClr val="EAF5FB"/>
          </a:solidFill>
          <a:ln w="0">
            <a:noFill/>
            <a:prstDash val="solid"/>
          </a:ln>
        </p:spPr>
      </p:sp>
      <p:sp>
        <p:nvSpPr>
          <p:cNvPr id="11" name="Rectangle 10">
            <a:extLst>
              <a:ext uri="{FF2B5EF4-FFF2-40B4-BE49-F238E27FC236}">
                <a16:creationId xmlns:a16="http://schemas.microsoft.com/office/drawing/2014/main" id="{DAC9F25F-B997-4EF3-80B7-55A928295E9C}"/>
              </a:ext>
            </a:extLst>
          </p:cNvPr>
          <p:cNvSpPr>
            <a:spLocks noGrp="1"/>
          </p:cNvSpPr>
          <p:nvPr/>
        </p:nvSpPr>
        <p:spPr>
          <a:xfrm>
            <a:off x="3474720" y="2194560"/>
            <a:ext cx="2331720" cy="1051560"/>
          </a:xfrm>
          <a:prstGeom prst="rect">
            <a:avLst/>
          </a:prstGeom>
          <a:noFill/>
          <a:ln w="0">
            <a:noFill/>
            <a:prstDash val="solid"/>
          </a:ln>
        </p:spPr>
        <p:txBody>
          <a:bodyPr anchor="ctr"/>
          <a:lstStyle/>
          <a:p>
            <a:pPr algn="ctr">
              <a:defRPr sz="2850" b="1">
                <a:solidFill>
                  <a:srgbClr val="24597F"/>
                </a:solidFill>
                <a:latin typeface="Arial"/>
                <a:ea typeface="Arial"/>
                <a:cs typeface="Arial"/>
              </a:defRPr>
            </a:pPr>
            <a:r>
              <a:rPr sz="2550" b="1">
                <a:solidFill>
                  <a:srgbClr val="24597F"/>
                </a:solidFill>
                <a:latin typeface="Arial"/>
                <a:ea typeface="Arial"/>
                <a:cs typeface="Arial"/>
              </a:rPr>
              <a:t>59.2% / 49.8%</a:t>
            </a:r>
          </a:p>
        </p:txBody>
      </p:sp>
      <p:sp>
        <p:nvSpPr>
          <p:cNvPr id="12" name="Rectangle 11">
            <a:extLst>
              <a:ext uri="{FF2B5EF4-FFF2-40B4-BE49-F238E27FC236}">
                <a16:creationId xmlns:a16="http://schemas.microsoft.com/office/drawing/2014/main" id="{8C474189-8A33-4D0C-B35C-61D4BCD549A4}"/>
              </a:ext>
            </a:extLst>
          </p:cNvPr>
          <p:cNvSpPr>
            <a:spLocks noGrp="1"/>
          </p:cNvSpPr>
          <p:nvPr/>
        </p:nvSpPr>
        <p:spPr>
          <a:xfrm>
            <a:off x="3474720" y="3310128"/>
            <a:ext cx="2331720" cy="647700"/>
          </a:xfrm>
          <a:prstGeom prst="rect">
            <a:avLst/>
          </a:prstGeom>
          <a:noFill/>
          <a:ln w="0">
            <a:noFill/>
            <a:prstDash val="solid"/>
          </a:ln>
        </p:spPr>
        <p:txBody>
          <a:bodyPr anchor="t"/>
          <a:lstStyle/>
          <a:p>
            <a:pPr algn="ctr">
              <a:defRPr sz="1500" b="0">
                <a:solidFill>
                  <a:srgbClr val="5D6670"/>
                </a:solidFill>
                <a:latin typeface="Arial"/>
                <a:ea typeface="Arial"/>
                <a:cs typeface="Arial"/>
              </a:defRPr>
            </a:pPr>
            <a:r>
              <a:rPr sz="1500" b="0">
                <a:solidFill>
                  <a:srgbClr val="5D6670"/>
                </a:solidFill>
                <a:latin typeface="Arial"/>
                <a:ea typeface="Arial"/>
                <a:cs typeface="Arial"/>
              </a:rPr>
              <a:t>zero burden</a:t>
            </a:r>
          </a:p>
          <a:p>
            <a:pPr algn="ctr">
              <a:defRPr sz="1500" b="0">
                <a:solidFill>
                  <a:srgbClr val="5D6670"/>
                </a:solidFill>
                <a:latin typeface="Arial"/>
                <a:ea typeface="Arial"/>
                <a:cs typeface="Arial"/>
              </a:defRPr>
            </a:pPr>
            <a:r>
              <a:rPr sz="1500" b="0">
                <a:solidFill>
                  <a:srgbClr val="5D6670"/>
                </a:solidFill>
                <a:latin typeface="Arial"/>
                <a:ea typeface="Arial"/>
                <a:cs typeface="Arial"/>
              </a:rPr>
              <a:t>Boustani / IACB</a:t>
            </a:r>
          </a:p>
        </p:txBody>
      </p:sp>
      <p:sp>
        <p:nvSpPr>
          <p:cNvPr id="13" name="Rectangle 12">
            <a:extLst>
              <a:ext uri="{FF2B5EF4-FFF2-40B4-BE49-F238E27FC236}">
                <a16:creationId xmlns:a16="http://schemas.microsoft.com/office/drawing/2014/main" id="{8741A434-37DB-46A3-809B-CC73D9673D40}"/>
              </a:ext>
            </a:extLst>
          </p:cNvPr>
          <p:cNvSpPr>
            <a:spLocks noGrp="1"/>
          </p:cNvSpPr>
          <p:nvPr/>
        </p:nvSpPr>
        <p:spPr>
          <a:xfrm>
            <a:off x="6236208" y="1866900"/>
            <a:ext cx="2642616" cy="2381250"/>
          </a:xfrm>
          <a:prstGeom prst="rect">
            <a:avLst/>
          </a:prstGeom>
          <a:solidFill>
            <a:srgbClr val="F6F7F8"/>
          </a:solidFill>
          <a:ln w="0">
            <a:noFill/>
            <a:prstDash val="solid"/>
          </a:ln>
        </p:spPr>
      </p:sp>
      <p:sp>
        <p:nvSpPr>
          <p:cNvPr id="14" name="Rectangle 13">
            <a:extLst>
              <a:ext uri="{FF2B5EF4-FFF2-40B4-BE49-F238E27FC236}">
                <a16:creationId xmlns:a16="http://schemas.microsoft.com/office/drawing/2014/main" id="{68C0CBAD-DB5F-469C-969E-CEDA80F71BB7}"/>
              </a:ext>
            </a:extLst>
          </p:cNvPr>
          <p:cNvSpPr>
            <a:spLocks noGrp="1"/>
          </p:cNvSpPr>
          <p:nvPr/>
        </p:nvSpPr>
        <p:spPr>
          <a:xfrm>
            <a:off x="6391656" y="2194560"/>
            <a:ext cx="2331720" cy="1051560"/>
          </a:xfrm>
          <a:prstGeom prst="rect">
            <a:avLst/>
          </a:prstGeom>
          <a:noFill/>
          <a:ln w="0">
            <a:noFill/>
            <a:prstDash val="solid"/>
          </a:ln>
        </p:spPr>
        <p:txBody>
          <a:bodyPr anchor="ctr"/>
          <a:lstStyle/>
          <a:p>
            <a:pPr algn="ctr">
              <a:defRPr sz="3600" b="1">
                <a:solidFill>
                  <a:srgbClr val="2D78C8"/>
                </a:solidFill>
                <a:latin typeface="Arial"/>
                <a:ea typeface="Arial"/>
                <a:cs typeface="Arial"/>
              </a:defRPr>
            </a:pPr>
            <a:r>
              <a:rPr sz="3600" b="1">
                <a:solidFill>
                  <a:srgbClr val="2D78C8"/>
                </a:solidFill>
                <a:latin typeface="Arial"/>
                <a:ea typeface="Arial"/>
                <a:cs typeface="Arial"/>
              </a:rPr>
              <a:t>17 df</a:t>
            </a:r>
          </a:p>
        </p:txBody>
      </p:sp>
      <p:sp>
        <p:nvSpPr>
          <p:cNvPr id="15" name="Rectangle 14">
            <a:extLst>
              <a:ext uri="{FF2B5EF4-FFF2-40B4-BE49-F238E27FC236}">
                <a16:creationId xmlns:a16="http://schemas.microsoft.com/office/drawing/2014/main" id="{3C7A73EB-DBB2-46CE-8BB6-E8DAFEF65984}"/>
              </a:ext>
            </a:extLst>
          </p:cNvPr>
          <p:cNvSpPr>
            <a:spLocks noGrp="1"/>
          </p:cNvSpPr>
          <p:nvPr/>
        </p:nvSpPr>
        <p:spPr>
          <a:xfrm>
            <a:off x="6391656" y="3310128"/>
            <a:ext cx="2331720" cy="647700"/>
          </a:xfrm>
          <a:prstGeom prst="rect">
            <a:avLst/>
          </a:prstGeom>
          <a:noFill/>
          <a:ln w="0">
            <a:noFill/>
            <a:prstDash val="solid"/>
          </a:ln>
        </p:spPr>
        <p:txBody>
          <a:bodyPr anchor="t"/>
          <a:lstStyle/>
          <a:p>
            <a:pPr algn="ctr">
              <a:defRPr sz="1500" b="0">
                <a:solidFill>
                  <a:srgbClr val="5D6670"/>
                </a:solidFill>
                <a:latin typeface="Arial"/>
                <a:ea typeface="Arial"/>
                <a:cs typeface="Arial"/>
              </a:defRPr>
            </a:pPr>
            <a:r>
              <a:rPr sz="1500" b="0">
                <a:solidFill>
                  <a:srgbClr val="5D6670"/>
                </a:solidFill>
                <a:latin typeface="Arial"/>
                <a:ea typeface="Arial"/>
                <a:cs typeface="Arial"/>
              </a:rPr>
              <a:t>design degrees</a:t>
            </a:r>
          </a:p>
          <a:p>
            <a:pPr algn="ctr">
              <a:defRPr sz="1500" b="0">
                <a:solidFill>
                  <a:srgbClr val="5D6670"/>
                </a:solidFill>
                <a:latin typeface="Arial"/>
                <a:ea typeface="Arial"/>
                <a:cs typeface="Arial"/>
              </a:defRPr>
            </a:pPr>
            <a:r>
              <a:rPr sz="1500" b="0">
                <a:solidFill>
                  <a:srgbClr val="5D6670"/>
                </a:solidFill>
                <a:latin typeface="Arial"/>
                <a:ea typeface="Arial"/>
                <a:cs typeface="Arial"/>
              </a:rPr>
              <a:t>of freedom</a:t>
            </a:r>
          </a:p>
        </p:txBody>
      </p:sp>
      <p:sp>
        <p:nvSpPr>
          <p:cNvPr id="16" name="Rectangle 15">
            <a:extLst>
              <a:ext uri="{FF2B5EF4-FFF2-40B4-BE49-F238E27FC236}">
                <a16:creationId xmlns:a16="http://schemas.microsoft.com/office/drawing/2014/main" id="{B9CF6F04-BCB8-4D81-B768-6453F046F645}"/>
              </a:ext>
            </a:extLst>
          </p:cNvPr>
          <p:cNvSpPr>
            <a:spLocks noGrp="1"/>
          </p:cNvSpPr>
          <p:nvPr/>
        </p:nvSpPr>
        <p:spPr>
          <a:xfrm>
            <a:off x="9153144" y="1866900"/>
            <a:ext cx="2642616" cy="2381250"/>
          </a:xfrm>
          <a:prstGeom prst="rect">
            <a:avLst/>
          </a:prstGeom>
          <a:solidFill>
            <a:srgbClr val="F6F7F8"/>
          </a:solidFill>
          <a:ln w="0">
            <a:noFill/>
            <a:prstDash val="solid"/>
          </a:ln>
        </p:spPr>
      </p:sp>
      <p:sp>
        <p:nvSpPr>
          <p:cNvPr id="17" name="Rectangle 16">
            <a:extLst>
              <a:ext uri="{FF2B5EF4-FFF2-40B4-BE49-F238E27FC236}">
                <a16:creationId xmlns:a16="http://schemas.microsoft.com/office/drawing/2014/main" id="{AD95E068-D4DA-4889-8DDB-B50259A15379}"/>
              </a:ext>
            </a:extLst>
          </p:cNvPr>
          <p:cNvSpPr>
            <a:spLocks noGrp="1"/>
          </p:cNvSpPr>
          <p:nvPr/>
        </p:nvSpPr>
        <p:spPr>
          <a:xfrm>
            <a:off x="9308592" y="2194560"/>
            <a:ext cx="2331720" cy="1051560"/>
          </a:xfrm>
          <a:prstGeom prst="rect">
            <a:avLst/>
          </a:prstGeom>
          <a:noFill/>
          <a:ln w="0">
            <a:noFill/>
            <a:prstDash val="solid"/>
          </a:ln>
        </p:spPr>
        <p:txBody>
          <a:bodyPr anchor="ctr"/>
          <a:lstStyle/>
          <a:p>
            <a:pPr algn="ctr">
              <a:defRPr sz="3600" b="1">
                <a:solidFill>
                  <a:srgbClr val="2D78C8"/>
                </a:solidFill>
                <a:latin typeface="Arial"/>
                <a:ea typeface="Arial"/>
                <a:cs typeface="Arial"/>
              </a:defRPr>
            </a:pPr>
            <a:r>
              <a:rPr sz="3600" b="1">
                <a:solidFill>
                  <a:srgbClr val="2D78C8"/>
                </a:solidFill>
                <a:latin typeface="Arial"/>
                <a:ea typeface="Arial"/>
                <a:cs typeface="Arial"/>
              </a:rPr>
              <a:t>2.11</a:t>
            </a:r>
          </a:p>
        </p:txBody>
      </p:sp>
      <p:sp>
        <p:nvSpPr>
          <p:cNvPr id="18" name="Rectangle 17">
            <a:extLst>
              <a:ext uri="{FF2B5EF4-FFF2-40B4-BE49-F238E27FC236}">
                <a16:creationId xmlns:a16="http://schemas.microsoft.com/office/drawing/2014/main" id="{EAD8EB3B-5955-4011-86FA-1D03E1D53686}"/>
              </a:ext>
            </a:extLst>
          </p:cNvPr>
          <p:cNvSpPr>
            <a:spLocks noGrp="1"/>
          </p:cNvSpPr>
          <p:nvPr/>
        </p:nvSpPr>
        <p:spPr>
          <a:xfrm>
            <a:off x="9308592" y="3310128"/>
            <a:ext cx="2331720" cy="647700"/>
          </a:xfrm>
          <a:prstGeom prst="rect">
            <a:avLst/>
          </a:prstGeom>
          <a:noFill/>
          <a:ln w="0">
            <a:noFill/>
            <a:prstDash val="solid"/>
          </a:ln>
        </p:spPr>
        <p:txBody>
          <a:bodyPr anchor="t"/>
          <a:lstStyle/>
          <a:p>
            <a:pPr algn="ctr">
              <a:defRPr sz="1500" b="0">
                <a:solidFill>
                  <a:srgbClr val="5D6670"/>
                </a:solidFill>
                <a:latin typeface="Arial"/>
                <a:ea typeface="Arial"/>
                <a:cs typeface="Arial"/>
              </a:defRPr>
            </a:pPr>
            <a:r>
              <a:rPr sz="1500" b="0">
                <a:solidFill>
                  <a:srgbClr val="5D6670"/>
                </a:solidFill>
                <a:latin typeface="Arial"/>
                <a:ea typeface="Arial"/>
                <a:cs typeface="Arial"/>
              </a:rPr>
              <a:t>95% interval</a:t>
            </a:r>
          </a:p>
          <a:p>
            <a:pPr algn="ctr">
              <a:defRPr sz="1500" b="0">
                <a:solidFill>
                  <a:srgbClr val="5D6670"/>
                </a:solidFill>
                <a:latin typeface="Arial"/>
                <a:ea typeface="Arial"/>
                <a:cs typeface="Arial"/>
              </a:defRPr>
            </a:pPr>
            <a:r>
              <a:rPr sz="1500" b="0">
                <a:solidFill>
                  <a:srgbClr val="5D6670"/>
                </a:solidFill>
                <a:latin typeface="Arial"/>
                <a:ea typeface="Arial"/>
                <a:cs typeface="Arial"/>
              </a:rPr>
              <a:t>t multiplier</a:t>
            </a:r>
          </a:p>
        </p:txBody>
      </p:sp>
      <p:sp>
        <p:nvSpPr>
          <p:cNvPr id="19" name="Rectangle 18">
            <a:extLst>
              <a:ext uri="{FF2B5EF4-FFF2-40B4-BE49-F238E27FC236}">
                <a16:creationId xmlns:a16="http://schemas.microsoft.com/office/drawing/2014/main" id="{8D973DAD-6244-4023-A985-4BA3F56727B3}"/>
              </a:ext>
            </a:extLst>
          </p:cNvPr>
          <p:cNvSpPr>
            <a:spLocks noGrp="1"/>
          </p:cNvSpPr>
          <p:nvPr/>
        </p:nvSpPr>
        <p:spPr>
          <a:xfrm>
            <a:off x="400050" y="4762500"/>
            <a:ext cx="11391900" cy="1047750"/>
          </a:xfrm>
          <a:prstGeom prst="rect">
            <a:avLst/>
          </a:prstGeom>
          <a:solidFill>
            <a:srgbClr val="111111"/>
          </a:solidFill>
          <a:ln w="0">
            <a:noFill/>
            <a:prstDash val="solid"/>
          </a:ln>
        </p:spPr>
      </p:sp>
      <p:sp>
        <p:nvSpPr>
          <p:cNvPr id="20" name="Rectangle 19">
            <a:extLst>
              <a:ext uri="{FF2B5EF4-FFF2-40B4-BE49-F238E27FC236}">
                <a16:creationId xmlns:a16="http://schemas.microsoft.com/office/drawing/2014/main" id="{DDBF13FD-5426-4D26-8CA5-09A28A2FB99C}"/>
              </a:ext>
            </a:extLst>
          </p:cNvPr>
          <p:cNvSpPr>
            <a:spLocks noGrp="1"/>
          </p:cNvSpPr>
          <p:nvPr/>
        </p:nvSpPr>
        <p:spPr>
          <a:xfrm>
            <a:off x="742950" y="5010150"/>
            <a:ext cx="10668000" cy="609600"/>
          </a:xfrm>
          <a:prstGeom prst="rect">
            <a:avLst/>
          </a:prstGeom>
          <a:noFill/>
          <a:ln w="0">
            <a:noFill/>
            <a:prstDash val="solid"/>
          </a:ln>
        </p:spPr>
        <p:txBody>
          <a:bodyPr anchor="t"/>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Most participants contributed no signal for a continuous burden term, while the survey design required wider t-based intervals.</a:t>
            </a:r>
          </a:p>
        </p:txBody>
      </p:sp>
      <p:sp>
        <p:nvSpPr>
          <p:cNvPr id="21" name="Rectangle 20">
            <a:extLst>
              <a:ext uri="{FF2B5EF4-FFF2-40B4-BE49-F238E27FC236}">
                <a16:creationId xmlns:a16="http://schemas.microsoft.com/office/drawing/2014/main" id="{6F15FC90-CD4E-4BFE-89AE-C41FDD04BAF6}"/>
              </a:ext>
            </a:extLst>
          </p:cNvPr>
          <p:cNvSpPr>
            <a:spLocks noGrp="1"/>
          </p:cNvSpPr>
          <p:nvPr/>
        </p:nvSpPr>
        <p:spPr>
          <a:xfrm>
            <a:off x="400050" y="6019800"/>
            <a:ext cx="10668000" cy="285750"/>
          </a:xfrm>
          <a:prstGeom prst="rect">
            <a:avLst/>
          </a:prstGeom>
          <a:noFill/>
          <a:ln w="0">
            <a:noFill/>
            <a:prstDash val="solid"/>
          </a:ln>
        </p:spPr>
        <p:txBody>
          <a:bodyPr anchor="t"/>
          <a:lstStyle/>
          <a:p>
            <a:pPr algn="l">
              <a:defRPr sz="1350" b="0">
                <a:solidFill>
                  <a:srgbClr val="C84630"/>
                </a:solidFill>
                <a:latin typeface="Arial"/>
                <a:ea typeface="Arial"/>
                <a:cs typeface="Arial"/>
              </a:defRPr>
            </a:pPr>
            <a:r>
              <a:rPr sz="1350" b="0">
                <a:solidFill>
                  <a:srgbClr val="C84630"/>
                </a:solidFill>
                <a:latin typeface="Arial"/>
                <a:ea typeface="Arial"/>
                <a:cs typeface="Arial"/>
              </a:rPr>
              <a:t>Use as replication context only; the dissertation's primary analysis is NHANES 2013-14.</a:t>
            </a:r>
          </a:p>
        </p:txBody>
      </p:sp>
    </p:spTree>
    <p:extLst>
      <p:ext uri="{BB962C8B-B14F-4D97-AF65-F5344CB8AC3E}">
        <p14:creationId xmlns:p14="http://schemas.microsoft.com/office/powerpoint/2010/main" val="9778443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1930</Words>
  <Application>Microsoft Office PowerPoint</Application>
  <DocSecurity>0</DocSecurity>
  <PresentationFormat>Widescreen</PresentationFormat>
  <Paragraphs>243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jignesh siddhapura</cp:lastModifiedBy>
  <cp:revision>1</cp:revision>
  <dcterms:created xsi:type="dcterms:W3CDTF">2026-08-24T15:35:16Z</dcterms:created>
  <dcterms:modified xsi:type="dcterms:W3CDTF">2026-08-25T16:41:14Z</dcterms:modified>
</cp:coreProperties>
</file>